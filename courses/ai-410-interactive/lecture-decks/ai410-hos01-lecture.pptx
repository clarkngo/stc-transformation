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c551176-a8fe-5f36-2db6-5339a5d9dbeb}">
          <p14:sldIdLst>
            <p14:sldId id="256"/>
          </p14:sldIdLst>
        </p14:section>
        <p14:section name="Part 1 · Anatomy" id="{5bb91295-14f7-70c1-f262-bbac7fb9668b}">
          <p14:sldIdLst>
            <p14:sldId id="257"/>
            <p14:sldId id="258"/>
          </p14:sldIdLst>
        </p14:section>
        <p14:section name="Part 2 · What an LLM does" id="{988c0c4c-e229-a750-7ff1-88ded12f5a0f}">
          <p14:sldIdLst>
            <p14:sldId id="259"/>
            <p14:sldId id="260"/>
            <p14:sldId id="261"/>
          </p14:sldIdLst>
        </p14:section>
        <p14:section name="Part 3 · The agentic loop" id="{bb8ce4e2-a4a4-958a-3ab5-513bbe298386}">
          <p14:sldIdLst>
            <p14:sldId id="262"/>
            <p14:sldId id="263"/>
            <p14:sldId id="264"/>
          </p14:sldIdLst>
        </p14:section>
        <p14:section name="Closing" id="{3d8ee5cb-41da-bdfd-18ed-1bc17bb5d55e}">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6B7A8C"/>
                </a:solidFill>
                <a:latin typeface="+mn-lt"/>
              </a:defRPr>
            </a:pPr>
            <a:r>
              <a:rPr sz="1200" b="0" i="0" u="none" strike="noStrike">
                <a:solidFill>
                  <a:srgbClr val="6B7A8C"/>
                </a:solidFill>
                <a:latin typeface="+mn-lt"/>
              </a:rPr>
              <a:t>Illustrative probabilities for the next token</a:t>
            </a:r>
          </a:p>
        </c:rich>
      </c:tx>
      <c:layout/>
      <c:overlay val="0"/>
    </c:title>
    <c:autoTitleDeleted val="0"/>
    <c:plotArea>
      <c:layout/>
      <c:barChart>
        <c:barDir val="bar"/>
        <c:grouping val="clustered"/>
        <c:varyColors val="0"/>
        <c:ser>
          <c:idx val="0"/>
          <c:order val="0"/>
          <c:tx>
            <c:strRef>
              <c:f>Sheet1!$B$1</c:f>
              <c:strCache>
                <c:ptCount val="1"/>
                <c:pt idx="0">
                  <c:v>Probability</c:v>
                </c:pt>
              </c:strCache>
            </c:strRef>
          </c:tx>
          <c:spPr>
            <a:solidFill>
              <a:srgbClr val="002D5C"/>
            </a:solidFill>
            <a:effectLst/>
          </c:spPr>
          <c:invertIfNegative val="0"/>
          <c:dLbls>
            <c:numFmt formatCode="0&quot;%&quot;" sourceLinked="0"/>
            <c:txPr>
              <a:bodyPr/>
              <a:lstStyle/>
              <a:p>
                <a:pPr>
                  <a:defRPr b="0" i="0" strike="noStrike" sz="1200" u="none">
                    <a:solidFill>
                      <a:srgbClr val="3A4A5C"/>
                    </a:solidFill>
                    <a:latin typeface="+mn-lt"/>
                  </a:defRPr>
                </a:pPr>
              </a:p>
            </c:txPr>
            <c:showLegendKey val="0"/>
            <c:showVal val="1"/>
            <c:showCatName val="0"/>
            <c:showSerName val="0"/>
            <c:showPercent val="0"/>
            <c:showBubbleSize val="0"/>
            <c:showLeaderLines val="0"/>
          </c:dLbls>
          <c:cat>
            <c:multiLvlStrRef>
              <c:f>Sheet1!$A$2:$A$5</c:f>
              <c:multiLvlStrCache>
                <c:ptCount val="4"/>
                <c:lvl>
                  <c:pt idx="0">
                    <c:v>29,754</c:v>
                  </c:pt>
                  <c:pt idx="1">
                    <c:v>29,744</c:v>
                  </c:pt>
                  <c:pt idx="2">
                    <c:v>Let</c:v>
                  </c:pt>
                  <c:pt idx="3">
                    <c:v>The</c:v>
                  </c:pt>
                </c:lvl>
              </c:multiLvlStrCache>
            </c:multiLvlStrRef>
          </c:cat>
          <c:val>
            <c:numRef>
              <c:f>Sheet1!$B$2:$B$5</c:f>
              <c:numCache>
                <c:formatCode>General</c:formatCode>
                <c:ptCount val="4"/>
                <c:pt idx="0">
                  <c:v>41</c:v>
                </c:pt>
                <c:pt idx="1">
                  <c:v>22</c:v>
                </c:pt>
                <c:pt idx="2">
                  <c:v>15</c:v>
                </c:pt>
                <c:pt idx="3">
                  <c:v>9</c:v>
                </c:pt>
              </c:numCache>
            </c:numRef>
          </c:val>
        </c:ser>
        <c:dLbls>
          <c:numFmt formatCode="0&quot;%&quot;" sourceLinked="0"/>
          <c:txPr>
            <a:bodyPr/>
            <a:lstStyle/>
            <a:p>
              <a:pPr>
                <a:defRPr b="0" i="0" strike="noStrike" sz="1200" u="none">
                  <a:solidFill>
                    <a:srgbClr val="3A4A5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A4A5C"/>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Welcome to AI 410. This first lecture is short on purpose: about seven minutes, three ideas.
First, every app you build this term has the same three-piece shape. Second, what a large language model actually does when you send it a message. And third, the one idea that turns a chat box into an agent: the agentic loop.
If something stays fuzzy by the end, good. That's exactly what your Muddiest Point is for. Let's start with the shape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Here's the shape of every app you'll build this term.
[Point to Frontend] The frontend collects the user's message and shows the reply. Right now it's a Streamlit page; in HOS 4 it becomes an app on your phone. Remember: anything in the frontend, anyone can inspect.
[Point to Backend] The backend is a FastAPI server with one important route: POST /chat. It receives the message, adds whatever the model needs, calls the model, and runs any tools. It's also the only piece that holds your API key.
[Point to LLM] And the LLM, Google's Gemini, receives text and returns text. It sees only what your backend chooses to send it. Hold on to that last line; it comes back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Here's why that split matters, with a real kind of mistake.
[Point to the top row] A classmate ships a quick demo that calls Gemini straight from the frontend, with the API key pasted into the page's code. It works. And within an hour of sharing the link, anyone who opens the browser's developer tools can copy that key and spend its quota.
[Point to the bottom row] Moving the call behind a backend endpoint doesn't make the app any smarter. It makes the secret unreachable. That's the first reason the backend exists. The second reason, tools, is where we'll end up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So what does the model actually do with your message?
[Point to the tokens] It reads a sequence of tokens, which are word pieces, and predicts the next one. Then the next. Over and over until it decides to stop.
[Point to the chart] These numbers are made up, but the idea is real: each next token is sampled from a probability distribution. Notice the right answer isn't guaranteed. A model can be fairly confident and still wrong about arithmetic.
[Point to the box] Because it samples, the same input can produce different outputs. That's lovely for writing and a real hazard for software. It's why HOS 3 adds guardrails, and why "it worked once" is never a complete Evaluate.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Here's the most useful sentence in this lecture: the model only knows what's in this one request.
[Point to the box] Everything it "knows" about your conversation is whatever fits in its context window for that single request. The system instruction. The chat history your backend chose to resend. Any documents you retrieved, which is HOS 2. And the user's latest message.
[Point to the right] If it's not in the box, the model doesn't know it. It doesn't remember your last request unless your backend sends it again.
[Pause] Quick check: if you delete the chat-history list in your backend, does the model still remember the conversation? Decide now, then try it in this week's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That gives us two different jobs, and people mix them up.
[Point left] Prompt engineering asks: how should I word the request? It lives in the instruction text. "Answer in two sentences and cite the policy."
[Point right] Context engineering asks a bigger question: what should the model see at all? It lives in your backend code, the code that builds each request. Resend the last six turns. Attach the three most relevant policy chunks. List the tools that are available.
Most of this course is context engineering: tool declarations this HOS, retrieval in HOS 2, and reading traces in HOS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Now the idea that turns a chat app into an agent.
A plain chat app is one round trip: message in, text out. An agent adds a loop.
[Trace the loop with your cursor] Your backend tells the model which functions exist. The model decides: answer in text, or ask for a function? If it asks, it doesn't reply with text. It replies with a function call: a name and arguments. Your code runs the real function. The result goes back to the model, and it decides again.
[Point to the right] The loop ends when the model answers in plain text. And your backend sets a limit on the number of turns, so a confused loop can't run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Let's walk one request all the way through.
[Point to each number as you go] One: the user types "What's 342 times 87?" and the frontend posts it to /chat. Two: the backend sends that message to Gemini, along with the declaration of a calculate tool. Three: Gemini doesn't answer. It replies with a function call: calculate, with the expression 342 times 87.
[Point to step 4] Four is the step to remember. Your backend runs the real Python function and gets 29,754.
Five: the backend sends that result back to Gemini, with the conversation so far. That's the loop, and it can repeat. Six: Gemini answers in text, and the frontend shows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Notice what the model never does in all of that. It never runs the function. It only asks.
[Point to the code] This is roughly what the model sees: a name, a description, and the parameters it can fill in. That's it. It reads this to decide when to ask. Your code decides what actually happens.
That's what makes tool calling safe to reason about. And it's why deciding which functions to expose is a real engineering judgment, not a detail. Could the model call a "send email" tool? A "refund" tool? You'll practice exactly that call in Application Challenge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That's the lecture. Here's what to do next.
[Point to each card] Open the Agentic Loop Simulator and step through three messages: "What's 342 times 87," "Tell me a joke," and "Calculate 12 divided by 3 minus," with the expression left unfinished. Watch where each one leaves the loop.
Post your Muddiest Point by Wednesday. The one place you got stuck, as specifically as you can.
Then the Concept Debate: who should decide when to call a tool, the model or your backend code? You'll argue both sides.
And then build it in Codespaces. You'll have an AI assistant scaffold the app, and then you'll test it on purpose. See you in the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pic>
        <p:nvPicPr>
          <p:cNvPr id="2" name="Image 0" descr="City University of Seattle">    </p:cNvPr>
          <p:cNvPicPr>
            <a:picLocks noChangeAspect="1"/>
          </p:cNvPicPr>
          <p:nvPr/>
        </p:nvPicPr>
        <p:blipFill>
          <a:blip r:embed="rId1"/>
          <a:stretch>
            <a:fillRect/>
          </a:stretch>
        </p:blipFill>
        <p:spPr>
          <a:xfrm>
            <a:off x="548640" y="457200"/>
            <a:ext cx="1737360" cy="4405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AI 410 · HOS 1 · Foundations &amp; the Agentic Loop</a:t>
            </a:r>
            <a:endParaRPr lang="en-US" sz="1000" dirty="0"/>
          </a:p>
        </p:txBody>
      </p:sp>
      <p:pic>
        <p:nvPicPr>
          <p:cNvPr id="3" name="Image 0" descr="City University of Seattle">    </p:cNvPr>
          <p:cNvPicPr>
            <a:picLocks noChangeAspect="1"/>
          </p:cNvPicPr>
          <p:nvPr/>
        </p:nvPicPr>
        <p:blipFill>
          <a:blip r:embed="rId1"/>
          <a:stretch>
            <a:fillRect/>
          </a:stretch>
        </p:blipFill>
        <p:spPr>
          <a:xfrm>
            <a:off x="7543800" y="4681728"/>
            <a:ext cx="1143000" cy="289859"/>
          </a:xfrm>
          <a:prstGeom prst="rect">
            <a:avLst/>
          </a:prstGeom>
        </p:spPr>
      </p:pic>
      <p:sp>
        <p:nvSpPr>
          <p:cNvPr id="4" name="Text 1"/>
          <p:cNvSpPr/>
          <p:nvPr>
            <p:ph idx="102" type="body" hasCustomPrompt="1"/>
          </p:nvPr>
        </p:nvSpPr>
        <p:spPr>
          <a:xfrm>
            <a:off x="457200" y="292608"/>
            <a:ext cx="8229600" cy="274320"/>
          </a:xfrm>
          <a:prstGeom prst="rect">
            <a:avLst/>
          </a:prstGeom>
          <a:noFill/>
          <a:ln/>
        </p:spPr>
        <p:txBody>
          <a:bodyPr wrap="square" rtlCol="0"/>
          <a:lstStyle>
            <a:lvl1pPr indent="0" marL="0">
              <a:buNone/>
              <a:defRPr lang="en-US" sz="1200" b="1"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457200" y="54864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chemeClr val="accent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64008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417320"/>
            <a:ext cx="7315200" cy="320040"/>
          </a:xfrm>
          <a:prstGeom prst="rect">
            <a:avLst/>
          </a:prstGeom>
          <a:noFill/>
          <a:ln/>
        </p:spPr>
        <p:txBody>
          <a:bodyPr wrap="square" lIns="0" tIns="0" rIns="0" bIns="0" rtlCol="0" anchor="t"/>
          <a:lstStyle/>
          <a:p>
            <a:pPr indent="0" marL="0">
              <a:buNone/>
            </a:pPr>
            <a:r>
              <a:rPr lang="en-US" sz="1400" b="1" dirty="0">
                <a:solidFill>
                  <a:schemeClr val="accent1"/>
                </a:solidFill>
              </a:rPr>
              <a:t>AI 410 · HOS 1 LECTURE</a:t>
            </a:r>
            <a:endParaRPr lang="en-US" sz="1400" dirty="0"/>
          </a:p>
        </p:txBody>
      </p:sp>
      <p:sp>
        <p:nvSpPr>
          <p:cNvPr id="3" name="Text 1"/>
          <p:cNvSpPr txBox="1"/>
          <p:nvPr/>
        </p:nvSpPr>
        <p:spPr>
          <a:xfrm>
            <a:off x="548640" y="1783080"/>
            <a:ext cx="8046720" cy="868680"/>
          </a:xfrm>
          <a:prstGeom prst="rect">
            <a:avLst/>
          </a:prstGeom>
          <a:noFill/>
          <a:ln/>
        </p:spPr>
        <p:txBody>
          <a:bodyPr wrap="square" lIns="0" tIns="0" rIns="0" bIns="0" rtlCol="0" anchor="t"/>
          <a:lstStyle/>
          <a:p>
            <a:pPr indent="0" marL="0">
              <a:buNone/>
            </a:pPr>
            <a:r>
              <a:rPr lang="en-US" sz="4400" b="1" dirty="0">
                <a:solidFill>
                  <a:schemeClr val="tx1"/>
                </a:solidFill>
              </a:rPr>
              <a:t>From chat box to agent</a:t>
            </a:r>
            <a:endParaRPr lang="en-US" sz="4400" dirty="0"/>
          </a:p>
        </p:txBody>
      </p:sp>
      <p:sp>
        <p:nvSpPr>
          <p:cNvPr id="4" name="Text 2"/>
          <p:cNvSpPr txBox="1"/>
          <p:nvPr/>
        </p:nvSpPr>
        <p:spPr>
          <a:xfrm>
            <a:off x="548640" y="2743200"/>
            <a:ext cx="6949440" cy="685800"/>
          </a:xfrm>
          <a:prstGeom prst="rect">
            <a:avLst/>
          </a:prstGeom>
          <a:noFill/>
          <a:ln/>
        </p:spPr>
        <p:txBody>
          <a:bodyPr wrap="square" lIns="0" tIns="0" rIns="0" bIns="0" rtlCol="0" anchor="t"/>
          <a:lstStyle/>
          <a:p>
            <a:pPr indent="0" marL="0">
              <a:buNone/>
            </a:pPr>
            <a:r>
              <a:rPr lang="en-US" sz="1800" dirty="0">
                <a:solidFill>
                  <a:schemeClr val="tx2"/>
                </a:solidFill>
              </a:rPr>
              <a:t>Three ideas you'll use all term: the three-piece app, what an LLM actually does, and the agentic loop</a:t>
            </a:r>
            <a:endParaRPr lang="en-US" sz="1800" dirty="0"/>
          </a:p>
        </p:txBody>
      </p:sp>
      <p:sp>
        <p:nvSpPr>
          <p:cNvPr id="5" name="Text 3"/>
          <p:cNvSpPr txBox="1"/>
          <p:nvPr/>
        </p:nvSpPr>
        <p:spPr>
          <a:xfrm>
            <a:off x="548640" y="4251960"/>
            <a:ext cx="5486400" cy="320040"/>
          </a:xfrm>
          <a:prstGeom prst="rect">
            <a:avLst/>
          </a:prstGeom>
          <a:noFill/>
          <a:ln/>
        </p:spPr>
        <p:txBody>
          <a:bodyPr wrap="square" lIns="0" tIns="0" rIns="0" bIns="0" rtlCol="0" anchor="t"/>
          <a:lstStyle/>
          <a:p>
            <a:pPr indent="0" marL="0">
              <a:buNone/>
            </a:pPr>
            <a:r>
              <a:rPr lang="en-US" sz="1200" dirty="0">
                <a:solidFill>
                  <a:schemeClr val="accent4"/>
                </a:solidFill>
              </a:rPr>
              <a:t>≈ 7 minutes  ·  Outcome O1  ·  Weeks 1–2</a:t>
            </a:r>
            <a:endParaRPr lang="en-US" sz="1200" dirty="0"/>
          </a:p>
        </p:txBody>
      </p:sp>
      <p:pic>
        <p:nvPicPr>
          <p:cNvPr id="6" name="Image 0" descr="Loop icon">    </p:cNvPr>
          <p:cNvPicPr>
            <a:picLocks noChangeAspect="1"/>
          </p:cNvPicPr>
          <p:nvPr/>
        </p:nvPicPr>
        <p:blipFill>
          <a:blip r:embed="rId1">
            <a:alphaModFix amt="85000"/>
          </a:blip>
          <a:stretch>
            <a:fillRect/>
          </a:stretch>
        </p:blipFill>
        <p:spPr>
          <a:xfrm>
            <a:off x="7315200" y="30175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200" b="1" dirty="0">
                <a:solidFill>
                  <a:schemeClr val="accent1"/>
                </a:solidFill>
              </a:rPr>
              <a:t>PART 1 · ANATOMY OF A FULL-STACK AI APP</a:t>
            </a:r>
            <a:endParaRPr lang="en-US" sz="1200" dirty="0"/>
          </a:p>
        </p:txBody>
      </p:sp>
      <p:sp>
        <p:nvSpPr>
          <p:cNvPr id="3" name="Text 1"/>
          <p:cNvSpPr/>
          <p:nvPr>
            <p:ph idx="103" type="title" hasCustomPrompt="1"/>
          </p:nvPr>
        </p:nvSpPr>
        <p:spPr>
          <a:xfrm>
            <a:off x="457200" y="54864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Every app this term has three pieces</a:t>
            </a:r>
            <a:endParaRPr lang="en-US" sz="3000" dirty="0"/>
          </a:p>
        </p:txBody>
      </p:sp>
      <p:sp>
        <p:nvSpPr>
          <p:cNvPr id="4" name="piece0"/>
          <p:cNvSpPr/>
          <p:nvPr/>
        </p:nvSpPr>
        <p:spPr>
          <a:xfrm>
            <a:off x="457200" y="1508760"/>
            <a:ext cx="2468880" cy="2606040"/>
          </a:xfrm>
          <a:prstGeom prst="roundRect">
            <a:avLst>
              <a:gd name="adj" fmla="val 4444"/>
            </a:avLst>
          </a:prstGeom>
          <a:solidFill>
            <a:schemeClr val="bg2"/>
          </a:solidFill>
          <a:ln w="12700">
            <a:solidFill>
              <a:srgbClr val="C9D4E1"/>
            </a:solidFill>
            <a:prstDash val="solid"/>
          </a:ln>
        </p:spPr>
      </p:sp>
      <p:pic>
        <p:nvPicPr>
          <p:cNvPr id="5" name="Image 0" descr="Frontend icon">    </p:cNvPr>
          <p:cNvPicPr>
            <a:picLocks noChangeAspect="1"/>
          </p:cNvPicPr>
          <p:nvPr/>
        </p:nvPicPr>
        <p:blipFill>
          <a:blip r:embed="rId1"/>
          <a:stretch>
            <a:fillRect/>
          </a:stretch>
        </p:blipFill>
        <p:spPr>
          <a:xfrm>
            <a:off x="731520" y="1783080"/>
            <a:ext cx="548640" cy="548640"/>
          </a:xfrm>
          <a:prstGeom prst="rect">
            <a:avLst/>
          </a:prstGeom>
        </p:spPr>
      </p:pic>
      <p:sp>
        <p:nvSpPr>
          <p:cNvPr id="6" name="Text 3"/>
          <p:cNvSpPr txBox="1"/>
          <p:nvPr/>
        </p:nvSpPr>
        <p:spPr>
          <a:xfrm>
            <a:off x="731520" y="2468880"/>
            <a:ext cx="2011680" cy="411480"/>
          </a:xfrm>
          <a:prstGeom prst="rect">
            <a:avLst/>
          </a:prstGeom>
          <a:noFill/>
          <a:ln/>
        </p:spPr>
        <p:txBody>
          <a:bodyPr wrap="square" lIns="0" tIns="0" rIns="0" bIns="0" rtlCol="0" anchor="t"/>
          <a:lstStyle/>
          <a:p>
            <a:pPr indent="0" marL="0">
              <a:buNone/>
            </a:pPr>
            <a:r>
              <a:rPr lang="en-US" sz="2200" b="1" dirty="0">
                <a:solidFill>
                  <a:schemeClr val="tx1"/>
                </a:solidFill>
              </a:rPr>
              <a:t>Frontend</a:t>
            </a:r>
            <a:endParaRPr lang="en-US" sz="2200" dirty="0"/>
          </a:p>
        </p:txBody>
      </p:sp>
      <p:sp>
        <p:nvSpPr>
          <p:cNvPr id="7" name="Text 4"/>
          <p:cNvSpPr txBox="1"/>
          <p:nvPr/>
        </p:nvSpPr>
        <p:spPr>
          <a:xfrm>
            <a:off x="731520" y="2926080"/>
            <a:ext cx="2011680" cy="685800"/>
          </a:xfrm>
          <a:prstGeom prst="rect">
            <a:avLst/>
          </a:prstGeom>
          <a:noFill/>
          <a:ln/>
        </p:spPr>
        <p:txBody>
          <a:bodyPr wrap="square" lIns="0" tIns="0" rIns="0" bIns="0" rtlCol="0" anchor="t"/>
          <a:lstStyle/>
          <a:p>
            <a:pPr indent="0" marL="0">
              <a:buNone/>
            </a:pPr>
            <a:r>
              <a:rPr lang="en-US" sz="1400" dirty="0">
                <a:solidFill>
                  <a:schemeClr val="tx2"/>
                </a:solidFill>
              </a:rPr>
              <a:t>Streamlit page now, an Expo phone app in HOS 4</a:t>
            </a:r>
            <a:endParaRPr lang="en-US" sz="1400" dirty="0"/>
          </a:p>
        </p:txBody>
      </p:sp>
      <p:sp>
        <p:nvSpPr>
          <p:cNvPr id="8" name="Text 5"/>
          <p:cNvSpPr txBox="1"/>
          <p:nvPr/>
        </p:nvSpPr>
        <p:spPr>
          <a:xfrm>
            <a:off x="731520" y="3657600"/>
            <a:ext cx="2011680" cy="320040"/>
          </a:xfrm>
          <a:prstGeom prst="rect">
            <a:avLst/>
          </a:prstGeom>
          <a:noFill/>
          <a:ln/>
        </p:spPr>
        <p:txBody>
          <a:bodyPr wrap="square" lIns="0" tIns="0" rIns="0" bIns="0" rtlCol="0" anchor="t"/>
          <a:lstStyle/>
          <a:p>
            <a:pPr indent="0" marL="0">
              <a:buNone/>
            </a:pPr>
            <a:r>
              <a:rPr lang="en-US" sz="1200" i="1" dirty="0">
                <a:solidFill>
                  <a:schemeClr val="accent4"/>
                </a:solidFill>
              </a:rPr>
              <a:t>Anyone can inspect it</a:t>
            </a:r>
            <a:endParaRPr lang="en-US" sz="1200" dirty="0"/>
          </a:p>
        </p:txBody>
      </p:sp>
      <p:sp>
        <p:nvSpPr>
          <p:cNvPr id="9" name="piece1"/>
          <p:cNvSpPr/>
          <p:nvPr/>
        </p:nvSpPr>
        <p:spPr>
          <a:xfrm>
            <a:off x="3337560" y="1508760"/>
            <a:ext cx="2468880" cy="2606040"/>
          </a:xfrm>
          <a:prstGeom prst="roundRect">
            <a:avLst>
              <a:gd name="adj" fmla="val 4444"/>
            </a:avLst>
          </a:prstGeom>
          <a:solidFill>
            <a:schemeClr val="tx1"/>
          </a:solidFill>
          <a:ln w="12700">
            <a:solidFill>
              <a:srgbClr val="002D5C"/>
            </a:solidFill>
            <a:prstDash val="solid"/>
          </a:ln>
        </p:spPr>
      </p:sp>
      <p:pic>
        <p:nvPicPr>
          <p:cNvPr id="10" name="Image 1" descr="Backend icon">    </p:cNvPr>
          <p:cNvPicPr>
            <a:picLocks noChangeAspect="1"/>
          </p:cNvPicPr>
          <p:nvPr/>
        </p:nvPicPr>
        <p:blipFill>
          <a:blip r:embed="rId2"/>
          <a:stretch>
            <a:fillRect/>
          </a:stretch>
        </p:blipFill>
        <p:spPr>
          <a:xfrm>
            <a:off x="3611880" y="1783080"/>
            <a:ext cx="548640" cy="548640"/>
          </a:xfrm>
          <a:prstGeom prst="rect">
            <a:avLst/>
          </a:prstGeom>
        </p:spPr>
      </p:pic>
      <p:pic>
        <p:nvPicPr>
          <p:cNvPr id="11" name="Image 2" descr="API key icon">    </p:cNvPr>
          <p:cNvPicPr>
            <a:picLocks noChangeAspect="1"/>
          </p:cNvPicPr>
          <p:nvPr/>
        </p:nvPicPr>
        <p:blipFill>
          <a:blip r:embed="rId3"/>
          <a:stretch>
            <a:fillRect/>
          </a:stretch>
        </p:blipFill>
        <p:spPr>
          <a:xfrm>
            <a:off x="5166360" y="1783080"/>
            <a:ext cx="411480" cy="411480"/>
          </a:xfrm>
          <a:prstGeom prst="rect">
            <a:avLst/>
          </a:prstGeom>
        </p:spPr>
      </p:pic>
      <p:sp>
        <p:nvSpPr>
          <p:cNvPr id="12" name="Text 7"/>
          <p:cNvSpPr txBox="1"/>
          <p:nvPr/>
        </p:nvSpPr>
        <p:spPr>
          <a:xfrm>
            <a:off x="3611880" y="2468880"/>
            <a:ext cx="2011680" cy="411480"/>
          </a:xfrm>
          <a:prstGeom prst="rect">
            <a:avLst/>
          </a:prstGeom>
          <a:noFill/>
          <a:ln/>
        </p:spPr>
        <p:txBody>
          <a:bodyPr wrap="square" lIns="0" tIns="0" rIns="0" bIns="0" rtlCol="0" anchor="t"/>
          <a:lstStyle/>
          <a:p>
            <a:pPr indent="0" marL="0">
              <a:buNone/>
            </a:pPr>
            <a:r>
              <a:rPr lang="en-US" sz="2200" b="1" dirty="0">
                <a:solidFill>
                  <a:schemeClr val="bg1"/>
                </a:solidFill>
              </a:rPr>
              <a:t>Backend</a:t>
            </a:r>
            <a:endParaRPr lang="en-US" sz="2200" dirty="0"/>
          </a:p>
        </p:txBody>
      </p:sp>
      <p:sp>
        <p:nvSpPr>
          <p:cNvPr id="13" name="Text 8"/>
          <p:cNvSpPr txBox="1"/>
          <p:nvPr/>
        </p:nvSpPr>
        <p:spPr>
          <a:xfrm>
            <a:off x="3611880" y="2926080"/>
            <a:ext cx="2011680" cy="685800"/>
          </a:xfrm>
          <a:prstGeom prst="rect">
            <a:avLst/>
          </a:prstGeom>
          <a:noFill/>
          <a:ln/>
        </p:spPr>
        <p:txBody>
          <a:bodyPr wrap="square" lIns="0" tIns="0" rIns="0" bIns="0" rtlCol="0" anchor="t"/>
          <a:lstStyle/>
          <a:p>
            <a:pPr indent="0" marL="0">
              <a:buNone/>
            </a:pPr>
            <a:r>
              <a:rPr lang="en-US" sz="1400" dirty="0">
                <a:solidFill>
                  <a:schemeClr val="bg1"/>
                </a:solidFill>
              </a:rPr>
              <a:t>FastAPI, POST /chat. Holds the API key. Runs the tools.</a:t>
            </a:r>
            <a:endParaRPr lang="en-US" sz="1400" dirty="0"/>
          </a:p>
        </p:txBody>
      </p:sp>
      <p:sp>
        <p:nvSpPr>
          <p:cNvPr id="14" name="Text 9"/>
          <p:cNvSpPr txBox="1"/>
          <p:nvPr/>
        </p:nvSpPr>
        <p:spPr>
          <a:xfrm>
            <a:off x="3611880" y="3657600"/>
            <a:ext cx="2011680" cy="320040"/>
          </a:xfrm>
          <a:prstGeom prst="rect">
            <a:avLst/>
          </a:prstGeom>
          <a:noFill/>
          <a:ln/>
        </p:spPr>
        <p:txBody>
          <a:bodyPr wrap="square" lIns="0" tIns="0" rIns="0" bIns="0" rtlCol="0" anchor="t"/>
          <a:lstStyle/>
          <a:p>
            <a:pPr indent="0" marL="0">
              <a:buNone/>
            </a:pPr>
            <a:r>
              <a:rPr lang="en-US" sz="1200" i="1" dirty="0">
                <a:solidFill>
                  <a:schemeClr val="accent2"/>
                </a:solidFill>
              </a:rPr>
              <a:t>The only piece with secrets</a:t>
            </a:r>
            <a:endParaRPr lang="en-US" sz="1200" dirty="0"/>
          </a:p>
        </p:txBody>
      </p:sp>
      <p:sp>
        <p:nvSpPr>
          <p:cNvPr id="15" name="piece2"/>
          <p:cNvSpPr/>
          <p:nvPr/>
        </p:nvSpPr>
        <p:spPr>
          <a:xfrm>
            <a:off x="6217920" y="1508760"/>
            <a:ext cx="2468880" cy="2606040"/>
          </a:xfrm>
          <a:prstGeom prst="roundRect">
            <a:avLst>
              <a:gd name="adj" fmla="val 4444"/>
            </a:avLst>
          </a:prstGeom>
          <a:solidFill>
            <a:schemeClr val="bg2"/>
          </a:solidFill>
          <a:ln w="12700">
            <a:solidFill>
              <a:srgbClr val="C9D4E1"/>
            </a:solidFill>
            <a:prstDash val="solid"/>
          </a:ln>
        </p:spPr>
      </p:sp>
      <p:pic>
        <p:nvPicPr>
          <p:cNvPr id="16" name="Image 3" descr="LLM icon">    </p:cNvPr>
          <p:cNvPicPr>
            <a:picLocks noChangeAspect="1"/>
          </p:cNvPicPr>
          <p:nvPr/>
        </p:nvPicPr>
        <p:blipFill>
          <a:blip r:embed="rId4"/>
          <a:stretch>
            <a:fillRect/>
          </a:stretch>
        </p:blipFill>
        <p:spPr>
          <a:xfrm>
            <a:off x="6492240" y="1783080"/>
            <a:ext cx="548640" cy="548640"/>
          </a:xfrm>
          <a:prstGeom prst="rect">
            <a:avLst/>
          </a:prstGeom>
        </p:spPr>
      </p:pic>
      <p:sp>
        <p:nvSpPr>
          <p:cNvPr id="17" name="Text 11"/>
          <p:cNvSpPr txBox="1"/>
          <p:nvPr/>
        </p:nvSpPr>
        <p:spPr>
          <a:xfrm>
            <a:off x="6492240" y="2468880"/>
            <a:ext cx="2011680" cy="411480"/>
          </a:xfrm>
          <a:prstGeom prst="rect">
            <a:avLst/>
          </a:prstGeom>
          <a:noFill/>
          <a:ln/>
        </p:spPr>
        <p:txBody>
          <a:bodyPr wrap="square" lIns="0" tIns="0" rIns="0" bIns="0" rtlCol="0" anchor="t"/>
          <a:lstStyle/>
          <a:p>
            <a:pPr indent="0" marL="0">
              <a:buNone/>
            </a:pPr>
            <a:r>
              <a:rPr lang="en-US" sz="2200" b="1" dirty="0">
                <a:solidFill>
                  <a:schemeClr val="tx1"/>
                </a:solidFill>
              </a:rPr>
              <a:t>LLM</a:t>
            </a:r>
            <a:endParaRPr lang="en-US" sz="2200" dirty="0"/>
          </a:p>
        </p:txBody>
      </p:sp>
      <p:sp>
        <p:nvSpPr>
          <p:cNvPr id="18" name="Text 12"/>
          <p:cNvSpPr txBox="1"/>
          <p:nvPr/>
        </p:nvSpPr>
        <p:spPr>
          <a:xfrm>
            <a:off x="6492240" y="2926080"/>
            <a:ext cx="2011680" cy="685800"/>
          </a:xfrm>
          <a:prstGeom prst="rect">
            <a:avLst/>
          </a:prstGeom>
          <a:noFill/>
          <a:ln/>
        </p:spPr>
        <p:txBody>
          <a:bodyPr wrap="square" lIns="0" tIns="0" rIns="0" bIns="0" rtlCol="0" anchor="t"/>
          <a:lstStyle/>
          <a:p>
            <a:pPr indent="0" marL="0">
              <a:buNone/>
            </a:pPr>
            <a:r>
              <a:rPr lang="en-US" sz="1400" dirty="0">
                <a:solidFill>
                  <a:schemeClr val="tx2"/>
                </a:solidFill>
              </a:rPr>
              <a:t>Gemini, through the free API</a:t>
            </a:r>
            <a:endParaRPr lang="en-US" sz="1400" dirty="0"/>
          </a:p>
        </p:txBody>
      </p:sp>
      <p:sp>
        <p:nvSpPr>
          <p:cNvPr id="19" name="Text 13"/>
          <p:cNvSpPr txBox="1"/>
          <p:nvPr/>
        </p:nvSpPr>
        <p:spPr>
          <a:xfrm>
            <a:off x="6492240" y="3657600"/>
            <a:ext cx="2011680" cy="320040"/>
          </a:xfrm>
          <a:prstGeom prst="rect">
            <a:avLst/>
          </a:prstGeom>
          <a:noFill/>
          <a:ln/>
        </p:spPr>
        <p:txBody>
          <a:bodyPr wrap="square" lIns="0" tIns="0" rIns="0" bIns="0" rtlCol="0" anchor="t"/>
          <a:lstStyle/>
          <a:p>
            <a:pPr indent="0" marL="0">
              <a:buNone/>
            </a:pPr>
            <a:r>
              <a:rPr lang="en-US" sz="1200" i="1" dirty="0">
                <a:solidFill>
                  <a:schemeClr val="accent4"/>
                </a:solidFill>
              </a:rPr>
              <a:t>Sees only what the backend sends</a:t>
            </a:r>
            <a:endParaRPr lang="en-US" sz="1200" dirty="0"/>
          </a:p>
        </p:txBody>
      </p:sp>
      <p:sp>
        <p:nvSpPr>
          <p:cNvPr id="20" name="arrow0"/>
          <p:cNvSpPr txBox="1"/>
          <p:nvPr/>
        </p:nvSpPr>
        <p:spPr>
          <a:xfrm>
            <a:off x="2971800" y="2514600"/>
            <a:ext cx="320040" cy="457200"/>
          </a:xfrm>
          <a:prstGeom prst="rect">
            <a:avLst/>
          </a:prstGeom>
          <a:noFill/>
          <a:ln/>
        </p:spPr>
        <p:txBody>
          <a:bodyPr wrap="square" lIns="0" tIns="0" rIns="0" bIns="0" rtlCol="0" anchor="t"/>
          <a:lstStyle/>
          <a:p>
            <a:pPr algn="ctr" indent="0" marL="0">
              <a:buNone/>
            </a:pPr>
            <a:r>
              <a:rPr lang="en-US" sz="2400" b="1" dirty="0">
                <a:solidFill>
                  <a:schemeClr val="accent1"/>
                </a:solidFill>
              </a:rPr>
              <a:t>⇄</a:t>
            </a:r>
            <a:endParaRPr lang="en-US" sz="2400" dirty="0"/>
          </a:p>
        </p:txBody>
      </p:sp>
      <p:sp>
        <p:nvSpPr>
          <p:cNvPr id="21" name="arrow1"/>
          <p:cNvSpPr txBox="1"/>
          <p:nvPr/>
        </p:nvSpPr>
        <p:spPr>
          <a:xfrm>
            <a:off x="5852160" y="2514600"/>
            <a:ext cx="320040" cy="457200"/>
          </a:xfrm>
          <a:prstGeom prst="rect">
            <a:avLst/>
          </a:prstGeom>
          <a:noFill/>
          <a:ln/>
        </p:spPr>
        <p:txBody>
          <a:bodyPr wrap="square" lIns="0" tIns="0" rIns="0" bIns="0" rtlCol="0" anchor="t"/>
          <a:lstStyle/>
          <a:p>
            <a:pPr algn="ctr" indent="0" marL="0">
              <a:buNone/>
            </a:pPr>
            <a:r>
              <a:rPr lang="en-US" sz="2400" b="1" dirty="0">
                <a:solidFill>
                  <a:schemeClr val="accent1"/>
                </a:solidFill>
              </a:rPr>
              <a:t>⇄</a:t>
            </a:r>
            <a:endParaRPr lang="en-US" sz="24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200" b="1" dirty="0">
                <a:solidFill>
                  <a:schemeClr val="accent1"/>
                </a:solidFill>
              </a:rPr>
              <a:t>PART 1 · WORKED EXAMPLE</a:t>
            </a:r>
            <a:endParaRPr lang="en-US" sz="1200" dirty="0"/>
          </a:p>
        </p:txBody>
      </p:sp>
      <p:sp>
        <p:nvSpPr>
          <p:cNvPr id="3" name="Text 1"/>
          <p:cNvSpPr/>
          <p:nvPr>
            <p:ph idx="103" type="title" hasCustomPrompt="1"/>
          </p:nvPr>
        </p:nvSpPr>
        <p:spPr>
          <a:xfrm>
            <a:off x="457200" y="54864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Why the API key lives in the backend</a:t>
            </a:r>
            <a:endParaRPr lang="en-US" sz="3000" dirty="0"/>
          </a:p>
        </p:txBody>
      </p:sp>
      <p:sp>
        <p:nvSpPr>
          <p:cNvPr id="4" name="case0"/>
          <p:cNvSpPr/>
          <p:nvPr/>
        </p:nvSpPr>
        <p:spPr>
          <a:xfrm>
            <a:off x="457200" y="1463040"/>
            <a:ext cx="8229600" cy="1234440"/>
          </a:xfrm>
          <a:prstGeom prst="roundRect">
            <a:avLst>
              <a:gd name="adj" fmla="val 8889"/>
            </a:avLst>
          </a:prstGeom>
          <a:solidFill>
            <a:srgbClr val="FDEEE8"/>
          </a:solidFill>
          <a:ln w="12700">
            <a:solidFill>
              <a:srgbClr val="F7B9A1"/>
            </a:solidFill>
            <a:prstDash val="solid"/>
          </a:ln>
        </p:spPr>
      </p:sp>
      <p:sp>
        <p:nvSpPr>
          <p:cNvPr id="5" name="badge0"/>
          <p:cNvSpPr/>
          <p:nvPr/>
        </p:nvSpPr>
        <p:spPr>
          <a:xfrm>
            <a:off x="731520" y="1783080"/>
            <a:ext cx="594360" cy="594360"/>
          </a:xfrm>
          <a:prstGeom prst="ellipse">
            <a:avLst/>
          </a:prstGeom>
          <a:solidFill>
            <a:schemeClr val="accent1"/>
          </a:solidFill>
          <a:ln w="12700">
            <a:solidFill>
              <a:srgbClr val="F63E02"/>
            </a:solidFill>
            <a:prstDash val="solid"/>
          </a:ln>
        </p:spPr>
      </p:sp>
      <p:pic>
        <p:nvPicPr>
          <p:cNvPr id="6" name="Image 0" descr="Wrong">    </p:cNvPr>
          <p:cNvPicPr>
            <a:picLocks noChangeAspect="1"/>
          </p:cNvPicPr>
          <p:nvPr/>
        </p:nvPicPr>
        <p:blipFill>
          <a:blip r:embed="rId1"/>
          <a:stretch>
            <a:fillRect/>
          </a:stretch>
        </p:blipFill>
        <p:spPr>
          <a:xfrm>
            <a:off x="841248" y="1892808"/>
            <a:ext cx="374904" cy="374904"/>
          </a:xfrm>
          <a:prstGeom prst="rect">
            <a:avLst/>
          </a:prstGeom>
        </p:spPr>
      </p:pic>
      <p:sp>
        <p:nvSpPr>
          <p:cNvPr id="7" name="Text 4"/>
          <p:cNvSpPr txBox="1"/>
          <p:nvPr/>
        </p:nvSpPr>
        <p:spPr>
          <a:xfrm>
            <a:off x="1600200" y="1645920"/>
            <a:ext cx="3291840" cy="365760"/>
          </a:xfrm>
          <a:prstGeom prst="rect">
            <a:avLst/>
          </a:prstGeom>
          <a:noFill/>
          <a:ln/>
        </p:spPr>
        <p:txBody>
          <a:bodyPr wrap="square" lIns="0" tIns="0" rIns="0" bIns="0" rtlCol="0" anchor="t"/>
          <a:lstStyle/>
          <a:p>
            <a:pPr indent="0" marL="0">
              <a:buNone/>
            </a:pPr>
            <a:r>
              <a:rPr lang="en-US" sz="1800" b="1" dirty="0">
                <a:solidFill>
                  <a:schemeClr val="tx1"/>
                </a:solidFill>
              </a:rPr>
              <a:t>Key pasted into the frontend</a:t>
            </a:r>
            <a:endParaRPr lang="en-US" sz="1800" dirty="0"/>
          </a:p>
        </p:txBody>
      </p:sp>
      <p:sp>
        <p:nvSpPr>
          <p:cNvPr id="8" name="Text 5"/>
          <p:cNvSpPr txBox="1"/>
          <p:nvPr/>
        </p:nvSpPr>
        <p:spPr>
          <a:xfrm>
            <a:off x="1600200" y="2103120"/>
            <a:ext cx="3703320" cy="3657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Browser 🔑  →  Gemini</a:t>
            </a:r>
            <a:endParaRPr lang="en-US" sz="1300" dirty="0"/>
          </a:p>
        </p:txBody>
      </p:sp>
      <p:sp>
        <p:nvSpPr>
          <p:cNvPr id="9" name="Text 6"/>
          <p:cNvSpPr txBox="1"/>
          <p:nvPr/>
        </p:nvSpPr>
        <p:spPr>
          <a:xfrm>
            <a:off x="5486400" y="1691640"/>
            <a:ext cx="3017520" cy="822960"/>
          </a:xfrm>
          <a:prstGeom prst="rect">
            <a:avLst/>
          </a:prstGeom>
          <a:noFill/>
          <a:ln/>
        </p:spPr>
        <p:txBody>
          <a:bodyPr wrap="square" lIns="0" tIns="0" rIns="0" bIns="0" rtlCol="0" anchor="ctr"/>
          <a:lstStyle/>
          <a:p>
            <a:pPr indent="0" marL="0">
              <a:buNone/>
            </a:pPr>
            <a:r>
              <a:rPr lang="en-US" sz="1400" dirty="0">
                <a:solidFill>
                  <a:schemeClr val="tx2"/>
                </a:solidFill>
              </a:rPr>
              <a:t>Anyone who opens developer tools can copy the key and spend its quota</a:t>
            </a:r>
            <a:endParaRPr lang="en-US" sz="1400" dirty="0"/>
          </a:p>
        </p:txBody>
      </p:sp>
      <p:sp>
        <p:nvSpPr>
          <p:cNvPr id="10" name="case1"/>
          <p:cNvSpPr/>
          <p:nvPr/>
        </p:nvSpPr>
        <p:spPr>
          <a:xfrm>
            <a:off x="457200" y="2926080"/>
            <a:ext cx="8229600" cy="1234440"/>
          </a:xfrm>
          <a:prstGeom prst="roundRect">
            <a:avLst>
              <a:gd name="adj" fmla="val 8889"/>
            </a:avLst>
          </a:prstGeom>
          <a:solidFill>
            <a:srgbClr val="E6F6F6"/>
          </a:solidFill>
          <a:ln w="12700">
            <a:solidFill>
              <a:srgbClr val="9ED9DA"/>
            </a:solidFill>
            <a:prstDash val="solid"/>
          </a:ln>
        </p:spPr>
      </p:sp>
      <p:sp>
        <p:nvSpPr>
          <p:cNvPr id="11" name="badge1"/>
          <p:cNvSpPr/>
          <p:nvPr/>
        </p:nvSpPr>
        <p:spPr>
          <a:xfrm>
            <a:off x="731520" y="3246120"/>
            <a:ext cx="594360" cy="594360"/>
          </a:xfrm>
          <a:prstGeom prst="ellipse">
            <a:avLst/>
          </a:prstGeom>
          <a:solidFill>
            <a:schemeClr val="accent2"/>
          </a:solidFill>
          <a:ln w="12700">
            <a:solidFill>
              <a:srgbClr val="3BBABD"/>
            </a:solidFill>
            <a:prstDash val="solid"/>
          </a:ln>
        </p:spPr>
      </p:sp>
      <p:pic>
        <p:nvPicPr>
          <p:cNvPr id="12" name="Image 1" descr="Right">    </p:cNvPr>
          <p:cNvPicPr>
            <a:picLocks noChangeAspect="1"/>
          </p:cNvPicPr>
          <p:nvPr/>
        </p:nvPicPr>
        <p:blipFill>
          <a:blip r:embed="rId2"/>
          <a:stretch>
            <a:fillRect/>
          </a:stretch>
        </p:blipFill>
        <p:spPr>
          <a:xfrm>
            <a:off x="841248" y="3355848"/>
            <a:ext cx="374904" cy="374904"/>
          </a:xfrm>
          <a:prstGeom prst="rect">
            <a:avLst/>
          </a:prstGeom>
        </p:spPr>
      </p:pic>
      <p:sp>
        <p:nvSpPr>
          <p:cNvPr id="13" name="Text 9"/>
          <p:cNvSpPr txBox="1"/>
          <p:nvPr/>
        </p:nvSpPr>
        <p:spPr>
          <a:xfrm>
            <a:off x="1600200" y="3108960"/>
            <a:ext cx="3291840" cy="365760"/>
          </a:xfrm>
          <a:prstGeom prst="rect">
            <a:avLst/>
          </a:prstGeom>
          <a:noFill/>
          <a:ln/>
        </p:spPr>
        <p:txBody>
          <a:bodyPr wrap="square" lIns="0" tIns="0" rIns="0" bIns="0" rtlCol="0" anchor="t"/>
          <a:lstStyle/>
          <a:p>
            <a:pPr indent="0" marL="0">
              <a:buNone/>
            </a:pPr>
            <a:r>
              <a:rPr lang="en-US" sz="1800" b="1" dirty="0">
                <a:solidFill>
                  <a:schemeClr val="tx1"/>
                </a:solidFill>
              </a:rPr>
              <a:t>Key kept in the backend</a:t>
            </a:r>
            <a:endParaRPr lang="en-US" sz="1800" dirty="0"/>
          </a:p>
        </p:txBody>
      </p:sp>
      <p:sp>
        <p:nvSpPr>
          <p:cNvPr id="14" name="Text 10"/>
          <p:cNvSpPr txBox="1"/>
          <p:nvPr/>
        </p:nvSpPr>
        <p:spPr>
          <a:xfrm>
            <a:off x="1600200" y="3566160"/>
            <a:ext cx="3703320" cy="365760"/>
          </a:xfrm>
          <a:prstGeom prst="rect">
            <a:avLst/>
          </a:prstGeom>
          <a:noFill/>
          <a:ln/>
        </p:spPr>
        <p:txBody>
          <a:bodyPr wrap="square" lIns="0" tIns="0" rIns="0" bIns="0" rtlCol="0" anchor="t"/>
          <a:lstStyle/>
          <a:p>
            <a:pPr indent="0" marL="0">
              <a:buNone/>
            </a:pPr>
            <a:r>
              <a:rPr lang="en-US" sz="1300" dirty="0">
                <a:solidFill>
                  <a:schemeClr val="tx2"/>
                </a:solidFill>
                <a:latin typeface="Courier New" pitchFamily="34" charset="0"/>
                <a:ea typeface="Courier New" pitchFamily="34" charset="-122"/>
                <a:cs typeface="Courier New" pitchFamily="34" charset="-120"/>
              </a:rPr>
              <a:t>Browser  →  Backend 🔑  →  Gemini</a:t>
            </a:r>
            <a:endParaRPr lang="en-US" sz="1300" dirty="0"/>
          </a:p>
        </p:txBody>
      </p:sp>
      <p:sp>
        <p:nvSpPr>
          <p:cNvPr id="15" name="Text 11"/>
          <p:cNvSpPr txBox="1"/>
          <p:nvPr/>
        </p:nvSpPr>
        <p:spPr>
          <a:xfrm>
            <a:off x="5486400" y="3154680"/>
            <a:ext cx="3017520" cy="822960"/>
          </a:xfrm>
          <a:prstGeom prst="rect">
            <a:avLst/>
          </a:prstGeom>
          <a:noFill/>
          <a:ln/>
        </p:spPr>
        <p:txBody>
          <a:bodyPr wrap="square" lIns="0" tIns="0" rIns="0" bIns="0" rtlCol="0" anchor="ctr"/>
          <a:lstStyle/>
          <a:p>
            <a:pPr indent="0" marL="0">
              <a:buNone/>
            </a:pPr>
            <a:r>
              <a:rPr lang="en-US" sz="1400" dirty="0">
                <a:solidFill>
                  <a:schemeClr val="tx2"/>
                </a:solidFill>
              </a:rPr>
              <a:t>The app isn't smarter. The secret is just unreachable.</a:t>
            </a:r>
            <a:endParaRPr lang="en-US" sz="14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200" b="1" dirty="0">
                <a:solidFill>
                  <a:schemeClr val="accent1"/>
                </a:solidFill>
              </a:rPr>
              <a:t>PART 2 · WHAT AN LLM ACTUALLY DOES</a:t>
            </a:r>
            <a:endParaRPr lang="en-US" sz="1200" dirty="0"/>
          </a:p>
        </p:txBody>
      </p:sp>
      <p:sp>
        <p:nvSpPr>
          <p:cNvPr id="3" name="Text 1"/>
          <p:cNvSpPr/>
          <p:nvPr>
            <p:ph idx="103" type="title" hasCustomPrompt="1"/>
          </p:nvPr>
        </p:nvSpPr>
        <p:spPr>
          <a:xfrm>
            <a:off x="457200" y="54864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It predicts the next token, over and over</a:t>
            </a:r>
            <a:endParaRPr lang="en-US" sz="3000" dirty="0"/>
          </a:p>
        </p:txBody>
      </p:sp>
      <p:sp>
        <p:nvSpPr>
          <p:cNvPr id="4" name="tok0"/>
          <p:cNvSpPr/>
          <p:nvPr/>
        </p:nvSpPr>
        <p:spPr>
          <a:xfrm>
            <a:off x="457200" y="1600200"/>
            <a:ext cx="969264" cy="457200"/>
          </a:xfrm>
          <a:prstGeom prst="roundRect">
            <a:avLst>
              <a:gd name="adj" fmla="val 16000"/>
            </a:avLst>
          </a:prstGeom>
          <a:solidFill>
            <a:schemeClr val="bg2"/>
          </a:solidFill>
          <a:ln w="12700">
            <a:solidFill>
              <a:srgbClr val="C9D4E1"/>
            </a:solidFill>
            <a:prstDash val="solid"/>
          </a:ln>
        </p:spPr>
      </p:sp>
      <p:sp>
        <p:nvSpPr>
          <p:cNvPr id="5" name="Text 3"/>
          <p:cNvSpPr txBox="1"/>
          <p:nvPr/>
        </p:nvSpPr>
        <p:spPr>
          <a:xfrm>
            <a:off x="457200" y="1600200"/>
            <a:ext cx="969264" cy="457200"/>
          </a:xfrm>
          <a:prstGeom prst="rect">
            <a:avLst/>
          </a:prstGeom>
          <a:noFill/>
          <a:ln/>
        </p:spPr>
        <p:txBody>
          <a:bodyPr wrap="square" lIns="0" tIns="0" rIns="0" bIns="0" rtlCol="0" anchor="ctr"/>
          <a:lstStyle/>
          <a:p>
            <a:pPr algn="ctr" indent="0" marL="0">
              <a:buNone/>
            </a:pPr>
            <a:r>
              <a:rPr lang="en-US" sz="1600" b="1" dirty="0">
                <a:solidFill>
                  <a:schemeClr val="tx1"/>
                </a:solidFill>
              </a:rPr>
              <a:t>What's</a:t>
            </a:r>
            <a:endParaRPr lang="en-US" sz="1600" dirty="0"/>
          </a:p>
        </p:txBody>
      </p:sp>
      <p:sp>
        <p:nvSpPr>
          <p:cNvPr id="6" name="tok1"/>
          <p:cNvSpPr/>
          <p:nvPr/>
        </p:nvSpPr>
        <p:spPr>
          <a:xfrm>
            <a:off x="1517904" y="1600200"/>
            <a:ext cx="612648" cy="457200"/>
          </a:xfrm>
          <a:prstGeom prst="roundRect">
            <a:avLst>
              <a:gd name="adj" fmla="val 16000"/>
            </a:avLst>
          </a:prstGeom>
          <a:solidFill>
            <a:schemeClr val="bg2"/>
          </a:solidFill>
          <a:ln w="12700">
            <a:solidFill>
              <a:srgbClr val="C9D4E1"/>
            </a:solidFill>
            <a:prstDash val="solid"/>
          </a:ln>
        </p:spPr>
      </p:sp>
      <p:sp>
        <p:nvSpPr>
          <p:cNvPr id="7" name="Text 5"/>
          <p:cNvSpPr txBox="1"/>
          <p:nvPr/>
        </p:nvSpPr>
        <p:spPr>
          <a:xfrm>
            <a:off x="1517904" y="1600200"/>
            <a:ext cx="612648" cy="457200"/>
          </a:xfrm>
          <a:prstGeom prst="rect">
            <a:avLst/>
          </a:prstGeom>
          <a:noFill/>
          <a:ln/>
        </p:spPr>
        <p:txBody>
          <a:bodyPr wrap="square" lIns="0" tIns="0" rIns="0" bIns="0" rtlCol="0" anchor="ctr"/>
          <a:lstStyle/>
          <a:p>
            <a:pPr algn="ctr" indent="0" marL="0">
              <a:buNone/>
            </a:pPr>
            <a:r>
              <a:rPr lang="en-US" sz="1600" b="1" dirty="0">
                <a:solidFill>
                  <a:schemeClr val="tx1"/>
                </a:solidFill>
              </a:rPr>
              <a:t>342</a:t>
            </a:r>
            <a:endParaRPr lang="en-US" sz="1600" dirty="0"/>
          </a:p>
        </p:txBody>
      </p:sp>
      <p:sp>
        <p:nvSpPr>
          <p:cNvPr id="8" name="tok2"/>
          <p:cNvSpPr/>
          <p:nvPr/>
        </p:nvSpPr>
        <p:spPr>
          <a:xfrm>
            <a:off x="2221992" y="1600200"/>
            <a:ext cx="850392" cy="457200"/>
          </a:xfrm>
          <a:prstGeom prst="roundRect">
            <a:avLst>
              <a:gd name="adj" fmla="val 16000"/>
            </a:avLst>
          </a:prstGeom>
          <a:solidFill>
            <a:schemeClr val="bg2"/>
          </a:solidFill>
          <a:ln w="12700">
            <a:solidFill>
              <a:srgbClr val="C9D4E1"/>
            </a:solidFill>
            <a:prstDash val="solid"/>
          </a:ln>
        </p:spPr>
      </p:sp>
      <p:sp>
        <p:nvSpPr>
          <p:cNvPr id="9" name="Text 7"/>
          <p:cNvSpPr txBox="1"/>
          <p:nvPr/>
        </p:nvSpPr>
        <p:spPr>
          <a:xfrm>
            <a:off x="2221992" y="1600200"/>
            <a:ext cx="850392" cy="457200"/>
          </a:xfrm>
          <a:prstGeom prst="rect">
            <a:avLst/>
          </a:prstGeom>
          <a:noFill/>
          <a:ln/>
        </p:spPr>
        <p:txBody>
          <a:bodyPr wrap="square" lIns="0" tIns="0" rIns="0" bIns="0" rtlCol="0" anchor="ctr"/>
          <a:lstStyle/>
          <a:p>
            <a:pPr algn="ctr" indent="0" marL="0">
              <a:buNone/>
            </a:pPr>
            <a:r>
              <a:rPr lang="en-US" sz="1600" b="1" dirty="0">
                <a:solidFill>
                  <a:schemeClr val="tx1"/>
                </a:solidFill>
              </a:rPr>
              <a:t>times</a:t>
            </a:r>
            <a:endParaRPr lang="en-US" sz="1600" dirty="0"/>
          </a:p>
        </p:txBody>
      </p:sp>
      <p:sp>
        <p:nvSpPr>
          <p:cNvPr id="10" name="tok3"/>
          <p:cNvSpPr/>
          <p:nvPr/>
        </p:nvSpPr>
        <p:spPr>
          <a:xfrm>
            <a:off x="3163824" y="1600200"/>
            <a:ext cx="493776" cy="457200"/>
          </a:xfrm>
          <a:prstGeom prst="roundRect">
            <a:avLst>
              <a:gd name="adj" fmla="val 16000"/>
            </a:avLst>
          </a:prstGeom>
          <a:solidFill>
            <a:schemeClr val="bg2"/>
          </a:solidFill>
          <a:ln w="12700">
            <a:solidFill>
              <a:srgbClr val="C9D4E1"/>
            </a:solidFill>
            <a:prstDash val="solid"/>
          </a:ln>
        </p:spPr>
      </p:sp>
      <p:sp>
        <p:nvSpPr>
          <p:cNvPr id="11" name="Text 9"/>
          <p:cNvSpPr txBox="1"/>
          <p:nvPr/>
        </p:nvSpPr>
        <p:spPr>
          <a:xfrm>
            <a:off x="3163824" y="1600200"/>
            <a:ext cx="493776" cy="457200"/>
          </a:xfrm>
          <a:prstGeom prst="rect">
            <a:avLst/>
          </a:prstGeom>
          <a:noFill/>
          <a:ln/>
        </p:spPr>
        <p:txBody>
          <a:bodyPr wrap="square" lIns="0" tIns="0" rIns="0" bIns="0" rtlCol="0" anchor="ctr"/>
          <a:lstStyle/>
          <a:p>
            <a:pPr algn="ctr" indent="0" marL="0">
              <a:buNone/>
            </a:pPr>
            <a:r>
              <a:rPr lang="en-US" sz="1600" b="1" dirty="0">
                <a:solidFill>
                  <a:schemeClr val="tx1"/>
                </a:solidFill>
              </a:rPr>
              <a:t>87</a:t>
            </a:r>
            <a:endParaRPr lang="en-US" sz="1600" dirty="0"/>
          </a:p>
        </p:txBody>
      </p:sp>
      <p:sp>
        <p:nvSpPr>
          <p:cNvPr id="12" name="tok4"/>
          <p:cNvSpPr/>
          <p:nvPr/>
        </p:nvSpPr>
        <p:spPr>
          <a:xfrm>
            <a:off x="3749040" y="1600200"/>
            <a:ext cx="374904" cy="457200"/>
          </a:xfrm>
          <a:prstGeom prst="roundRect">
            <a:avLst>
              <a:gd name="adj" fmla="val 19512"/>
            </a:avLst>
          </a:prstGeom>
          <a:solidFill>
            <a:schemeClr val="bg2"/>
          </a:solidFill>
          <a:ln w="12700">
            <a:solidFill>
              <a:srgbClr val="C9D4E1"/>
            </a:solidFill>
            <a:prstDash val="solid"/>
          </a:ln>
        </p:spPr>
      </p:sp>
      <p:sp>
        <p:nvSpPr>
          <p:cNvPr id="13" name="Text 11"/>
          <p:cNvSpPr txBox="1"/>
          <p:nvPr/>
        </p:nvSpPr>
        <p:spPr>
          <a:xfrm>
            <a:off x="3749040" y="1600200"/>
            <a:ext cx="374904" cy="457200"/>
          </a:xfrm>
          <a:prstGeom prst="rect">
            <a:avLst/>
          </a:prstGeom>
          <a:noFill/>
          <a:ln/>
        </p:spPr>
        <p:txBody>
          <a:bodyPr wrap="square" lIns="0" tIns="0" rIns="0" bIns="0" rtlCol="0" anchor="ctr"/>
          <a:lstStyle/>
          <a:p>
            <a:pPr algn="ctr" indent="0" marL="0">
              <a:buNone/>
            </a:pPr>
            <a:r>
              <a:rPr lang="en-US" sz="1600" b="1" dirty="0">
                <a:solidFill>
                  <a:schemeClr val="tx1"/>
                </a:solidFill>
              </a:rPr>
              <a:t>?</a:t>
            </a:r>
            <a:endParaRPr lang="en-US" sz="1600" dirty="0"/>
          </a:p>
        </p:txBody>
      </p:sp>
      <p:sp>
        <p:nvSpPr>
          <p:cNvPr id="14" name="Text 12"/>
          <p:cNvSpPr txBox="1"/>
          <p:nvPr/>
        </p:nvSpPr>
        <p:spPr>
          <a:xfrm>
            <a:off x="4261104" y="1600200"/>
            <a:ext cx="1463040" cy="457200"/>
          </a:xfrm>
          <a:prstGeom prst="rect">
            <a:avLst/>
          </a:prstGeom>
          <a:noFill/>
          <a:ln/>
        </p:spPr>
        <p:txBody>
          <a:bodyPr wrap="square" lIns="0" tIns="0" rIns="0" bIns="0" rtlCol="0" anchor="ctr"/>
          <a:lstStyle/>
          <a:p>
            <a:pPr indent="0" marL="0">
              <a:buNone/>
            </a:pPr>
            <a:r>
              <a:rPr lang="en-US" sz="1600" b="1" dirty="0">
                <a:solidFill>
                  <a:schemeClr val="accent1"/>
                </a:solidFill>
              </a:rPr>
              <a:t>→ next token?</a:t>
            </a:r>
            <a:endParaRPr lang="en-US" sz="1600" dirty="0"/>
          </a:p>
        </p:txBody>
      </p:sp>
      <p:graphicFrame>
        <p:nvGraphicFramePr>
          <p:cNvPr id="15" name="Chart 0" descr=""/>
          <p:cNvGraphicFramePr/>
          <p:nvPr/>
        </p:nvGraphicFramePr>
        <p:xfrm>
          <a:off x="457200" y="2240280"/>
          <a:ext cx="4754880" cy="2331720"/>
        </p:xfrm>
        <a:graphic xmlns:a="http://schemas.openxmlformats.org/drawingml/2006/main">
          <a:graphicData uri="http://schemas.openxmlformats.org/drawingml/2006/chart">
            <c:chart xmlns:c="http://schemas.openxmlformats.org/drawingml/2006/chart" r:id="rId1"/>
          </a:graphicData>
        </a:graphic>
      </p:graphicFrame>
      <p:sp>
        <p:nvSpPr>
          <p:cNvPr id="16" name="takeaway"/>
          <p:cNvSpPr/>
          <p:nvPr/>
        </p:nvSpPr>
        <p:spPr>
          <a:xfrm>
            <a:off x="5486400" y="2331720"/>
            <a:ext cx="3200400" cy="2103120"/>
          </a:xfrm>
          <a:prstGeom prst="roundRect">
            <a:avLst>
              <a:gd name="adj" fmla="val 5217"/>
            </a:avLst>
          </a:prstGeom>
          <a:solidFill>
            <a:schemeClr val="bg2"/>
          </a:solidFill>
          <a:ln w="12700">
            <a:solidFill>
              <a:srgbClr val="C9D4E1"/>
            </a:solidFill>
            <a:prstDash val="solid"/>
          </a:ln>
        </p:spPr>
      </p:sp>
      <p:sp>
        <p:nvSpPr>
          <p:cNvPr id="17" name="Text 14"/>
          <p:cNvSpPr txBox="1"/>
          <p:nvPr/>
        </p:nvSpPr>
        <p:spPr>
          <a:xfrm>
            <a:off x="5715000" y="2514600"/>
            <a:ext cx="2743200" cy="365760"/>
          </a:xfrm>
          <a:prstGeom prst="rect">
            <a:avLst/>
          </a:prstGeom>
          <a:noFill/>
          <a:ln/>
        </p:spPr>
        <p:txBody>
          <a:bodyPr wrap="square" lIns="0" tIns="0" rIns="0" bIns="0" rtlCol="0" anchor="t"/>
          <a:lstStyle/>
          <a:p>
            <a:pPr indent="0" marL="0">
              <a:buNone/>
            </a:pPr>
            <a:r>
              <a:rPr lang="en-US" sz="1800" b="1" dirty="0">
                <a:solidFill>
                  <a:schemeClr val="tx1"/>
                </a:solidFill>
              </a:rPr>
              <a:t>Sampled, not looked up</a:t>
            </a:r>
            <a:endParaRPr lang="en-US" sz="1800" dirty="0"/>
          </a:p>
        </p:txBody>
      </p:sp>
      <p:sp>
        <p:nvSpPr>
          <p:cNvPr id="18" name="Text 15"/>
          <p:cNvSpPr txBox="1"/>
          <p:nvPr/>
        </p:nvSpPr>
        <p:spPr>
          <a:xfrm>
            <a:off x="5715000" y="2926080"/>
            <a:ext cx="2743200" cy="1371600"/>
          </a:xfrm>
          <a:prstGeom prst="rect">
            <a:avLst/>
          </a:prstGeom>
          <a:noFill/>
          <a:ln/>
        </p:spPr>
        <p:txBody>
          <a:bodyPr wrap="square" lIns="0" tIns="0" rIns="0" bIns="0" rtlCol="0" anchor="t"/>
          <a:lstStyle/>
          <a:p>
            <a:pPr indent="0" marL="0">
              <a:buNone/>
            </a:pPr>
            <a:r>
              <a:rPr lang="en-US" sz="1400" dirty="0">
                <a:solidFill>
                  <a:schemeClr val="tx2"/>
                </a:solidFill>
              </a:rPr>
              <a:t>The same input can give different outputs. Great for writing, a hazard for software, and why “it worked once” is never a complete test.</a:t>
            </a:r>
            <a:endParaRPr lang="en-US" sz="14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200" b="1" dirty="0">
                <a:solidFill>
                  <a:schemeClr val="accent1"/>
                </a:solidFill>
              </a:rPr>
              <a:t>PART 2 · CONTEXT</a:t>
            </a:r>
            <a:endParaRPr lang="en-US" sz="1200" dirty="0"/>
          </a:p>
        </p:txBody>
      </p:sp>
      <p:sp>
        <p:nvSpPr>
          <p:cNvPr id="3" name="Text 1"/>
          <p:cNvSpPr/>
          <p:nvPr>
            <p:ph idx="103" type="title" hasCustomPrompt="1"/>
          </p:nvPr>
        </p:nvSpPr>
        <p:spPr>
          <a:xfrm>
            <a:off x="457200" y="54864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It only knows what's in this one request</a:t>
            </a:r>
            <a:endParaRPr lang="en-US" sz="3000" dirty="0"/>
          </a:p>
        </p:txBody>
      </p:sp>
      <p:sp>
        <p:nvSpPr>
          <p:cNvPr id="4" name="window"/>
          <p:cNvSpPr/>
          <p:nvPr/>
        </p:nvSpPr>
        <p:spPr>
          <a:xfrm>
            <a:off x="457200" y="1463040"/>
            <a:ext cx="4754880" cy="3063240"/>
          </a:xfrm>
          <a:prstGeom prst="roundRect">
            <a:avLst>
              <a:gd name="adj" fmla="val 3582"/>
            </a:avLst>
          </a:prstGeom>
          <a:solidFill>
            <a:schemeClr val="bg1"/>
          </a:solidFill>
          <a:ln w="12700">
            <a:solidFill>
              <a:srgbClr val="002D5C"/>
            </a:solidFill>
            <a:prstDash val="solid"/>
          </a:ln>
        </p:spPr>
      </p:sp>
      <p:sp>
        <p:nvSpPr>
          <p:cNvPr id="5" name="Text 3"/>
          <p:cNvSpPr txBox="1"/>
          <p:nvPr/>
        </p:nvSpPr>
        <p:spPr>
          <a:xfrm>
            <a:off x="685800" y="1600200"/>
            <a:ext cx="4297680" cy="320040"/>
          </a:xfrm>
          <a:prstGeom prst="rect">
            <a:avLst/>
          </a:prstGeom>
          <a:noFill/>
          <a:ln/>
        </p:spPr>
        <p:txBody>
          <a:bodyPr wrap="square" lIns="0" tIns="0" rIns="0" bIns="0" rtlCol="0" anchor="t"/>
          <a:lstStyle/>
          <a:p>
            <a:pPr indent="0" marL="0">
              <a:buNone/>
            </a:pPr>
            <a:r>
              <a:rPr lang="en-US" sz="1400" b="1" dirty="0">
                <a:solidFill>
                  <a:schemeClr val="accent1"/>
                </a:solidFill>
              </a:rPr>
              <a:t>One request's context window</a:t>
            </a:r>
            <a:endParaRPr lang="en-US" sz="1400" dirty="0"/>
          </a:p>
        </p:txBody>
      </p:sp>
      <p:sp>
        <p:nvSpPr>
          <p:cNvPr id="6" name="layer0"/>
          <p:cNvSpPr/>
          <p:nvPr/>
        </p:nvSpPr>
        <p:spPr>
          <a:xfrm>
            <a:off x="685800" y="2011680"/>
            <a:ext cx="4297680" cy="493776"/>
          </a:xfrm>
          <a:prstGeom prst="roundRect">
            <a:avLst>
              <a:gd name="adj" fmla="val 14815"/>
            </a:avLst>
          </a:prstGeom>
          <a:solidFill>
            <a:schemeClr val="bg2"/>
          </a:solidFill>
          <a:ln w="12700">
            <a:solidFill>
              <a:srgbClr val="C9D4E1"/>
            </a:solidFill>
            <a:prstDash val="solid"/>
          </a:ln>
        </p:spPr>
      </p:sp>
      <p:sp>
        <p:nvSpPr>
          <p:cNvPr id="7" name="Text 5"/>
          <p:cNvSpPr txBox="1"/>
          <p:nvPr/>
        </p:nvSpPr>
        <p:spPr>
          <a:xfrm>
            <a:off x="868680" y="2011680"/>
            <a:ext cx="4023360" cy="493776"/>
          </a:xfrm>
          <a:prstGeom prst="rect">
            <a:avLst/>
          </a:prstGeom>
          <a:noFill/>
          <a:ln/>
        </p:spPr>
        <p:txBody>
          <a:bodyPr wrap="square" lIns="0" tIns="0" rIns="0" bIns="0" rtlCol="0" anchor="ctr"/>
          <a:lstStyle/>
          <a:p>
            <a:pPr indent="0" marL="0">
              <a:buNone/>
            </a:pPr>
            <a:r>
              <a:rPr lang="en-US" sz="1500" dirty="0">
                <a:solidFill>
                  <a:schemeClr val="tx1"/>
                </a:solidFill>
              </a:rPr>
              <a:t>System instruction</a:t>
            </a:r>
            <a:endParaRPr lang="en-US" sz="1500" dirty="0"/>
          </a:p>
        </p:txBody>
      </p:sp>
      <p:sp>
        <p:nvSpPr>
          <p:cNvPr id="8" name="layer1"/>
          <p:cNvSpPr/>
          <p:nvPr/>
        </p:nvSpPr>
        <p:spPr>
          <a:xfrm>
            <a:off x="685800" y="2615184"/>
            <a:ext cx="4297680" cy="493776"/>
          </a:xfrm>
          <a:prstGeom prst="roundRect">
            <a:avLst>
              <a:gd name="adj" fmla="val 14815"/>
            </a:avLst>
          </a:prstGeom>
          <a:solidFill>
            <a:schemeClr val="bg2"/>
          </a:solidFill>
          <a:ln w="12700">
            <a:solidFill>
              <a:srgbClr val="C9D4E1"/>
            </a:solidFill>
            <a:prstDash val="solid"/>
          </a:ln>
        </p:spPr>
      </p:sp>
      <p:sp>
        <p:nvSpPr>
          <p:cNvPr id="9" name="Text 7"/>
          <p:cNvSpPr txBox="1"/>
          <p:nvPr/>
        </p:nvSpPr>
        <p:spPr>
          <a:xfrm>
            <a:off x="868680" y="2615184"/>
            <a:ext cx="4023360" cy="493776"/>
          </a:xfrm>
          <a:prstGeom prst="rect">
            <a:avLst/>
          </a:prstGeom>
          <a:noFill/>
          <a:ln/>
        </p:spPr>
        <p:txBody>
          <a:bodyPr wrap="square" lIns="0" tIns="0" rIns="0" bIns="0" rtlCol="0" anchor="ctr"/>
          <a:lstStyle/>
          <a:p>
            <a:pPr indent="0" marL="0">
              <a:buNone/>
            </a:pPr>
            <a:r>
              <a:rPr lang="en-US" sz="1500" dirty="0">
                <a:solidFill>
                  <a:schemeClr val="tx1"/>
                </a:solidFill>
              </a:rPr>
              <a:t>Chat history your backend chose to resend</a:t>
            </a:r>
            <a:endParaRPr lang="en-US" sz="1500" dirty="0"/>
          </a:p>
        </p:txBody>
      </p:sp>
      <p:sp>
        <p:nvSpPr>
          <p:cNvPr id="10" name="layer2"/>
          <p:cNvSpPr/>
          <p:nvPr/>
        </p:nvSpPr>
        <p:spPr>
          <a:xfrm>
            <a:off x="685800" y="3218688"/>
            <a:ext cx="4297680" cy="493776"/>
          </a:xfrm>
          <a:prstGeom prst="roundRect">
            <a:avLst>
              <a:gd name="adj" fmla="val 14815"/>
            </a:avLst>
          </a:prstGeom>
          <a:solidFill>
            <a:schemeClr val="bg2"/>
          </a:solidFill>
          <a:ln w="12700">
            <a:solidFill>
              <a:srgbClr val="C9D4E1"/>
            </a:solidFill>
            <a:prstDash val="solid"/>
          </a:ln>
        </p:spPr>
      </p:sp>
      <p:sp>
        <p:nvSpPr>
          <p:cNvPr id="11" name="Text 9"/>
          <p:cNvSpPr txBox="1"/>
          <p:nvPr/>
        </p:nvSpPr>
        <p:spPr>
          <a:xfrm>
            <a:off x="868680" y="3218688"/>
            <a:ext cx="4023360" cy="493776"/>
          </a:xfrm>
          <a:prstGeom prst="rect">
            <a:avLst/>
          </a:prstGeom>
          <a:noFill/>
          <a:ln/>
        </p:spPr>
        <p:txBody>
          <a:bodyPr wrap="square" lIns="0" tIns="0" rIns="0" bIns="0" rtlCol="0" anchor="ctr"/>
          <a:lstStyle/>
          <a:p>
            <a:pPr indent="0" marL="0">
              <a:buNone/>
            </a:pPr>
            <a:r>
              <a:rPr lang="en-US" sz="1500" dirty="0">
                <a:solidFill>
                  <a:schemeClr val="tx1"/>
                </a:solidFill>
              </a:rPr>
              <a:t>Retrieved documents (from HOS 2)</a:t>
            </a:r>
            <a:endParaRPr lang="en-US" sz="1500" dirty="0"/>
          </a:p>
        </p:txBody>
      </p:sp>
      <p:sp>
        <p:nvSpPr>
          <p:cNvPr id="12" name="layer3"/>
          <p:cNvSpPr/>
          <p:nvPr/>
        </p:nvSpPr>
        <p:spPr>
          <a:xfrm>
            <a:off x="685800" y="3822192"/>
            <a:ext cx="4297680" cy="493776"/>
          </a:xfrm>
          <a:prstGeom prst="roundRect">
            <a:avLst>
              <a:gd name="adj" fmla="val 14815"/>
            </a:avLst>
          </a:prstGeom>
          <a:solidFill>
            <a:schemeClr val="tx1"/>
          </a:solidFill>
          <a:ln w="12700">
            <a:solidFill>
              <a:srgbClr val="002D5C"/>
            </a:solidFill>
            <a:prstDash val="solid"/>
          </a:ln>
        </p:spPr>
      </p:sp>
      <p:sp>
        <p:nvSpPr>
          <p:cNvPr id="13" name="Text 11"/>
          <p:cNvSpPr txBox="1"/>
          <p:nvPr/>
        </p:nvSpPr>
        <p:spPr>
          <a:xfrm>
            <a:off x="868680" y="3822192"/>
            <a:ext cx="4023360" cy="493776"/>
          </a:xfrm>
          <a:prstGeom prst="rect">
            <a:avLst/>
          </a:prstGeom>
          <a:noFill/>
          <a:ln/>
        </p:spPr>
        <p:txBody>
          <a:bodyPr wrap="square" lIns="0" tIns="0" rIns="0" bIns="0" rtlCol="0" anchor="ctr"/>
          <a:lstStyle/>
          <a:p>
            <a:pPr indent="0" marL="0">
              <a:buNone/>
            </a:pPr>
            <a:r>
              <a:rPr lang="en-US" sz="1500" b="1" dirty="0">
                <a:solidFill>
                  <a:schemeClr val="bg1"/>
                </a:solidFill>
              </a:rPr>
              <a:t>The user's latest message</a:t>
            </a:r>
            <a:endParaRPr lang="en-US" sz="1500" dirty="0"/>
          </a:p>
        </p:txBody>
      </p:sp>
      <p:sp>
        <p:nvSpPr>
          <p:cNvPr id="14" name="Text 12"/>
          <p:cNvSpPr txBox="1"/>
          <p:nvPr/>
        </p:nvSpPr>
        <p:spPr>
          <a:xfrm>
            <a:off x="5486400" y="1600200"/>
            <a:ext cx="3200400" cy="1188720"/>
          </a:xfrm>
          <a:prstGeom prst="rect">
            <a:avLst/>
          </a:prstGeom>
          <a:noFill/>
          <a:ln/>
        </p:spPr>
        <p:txBody>
          <a:bodyPr wrap="square" lIns="0" tIns="0" rIns="0" bIns="0" rtlCol="0" anchor="t"/>
          <a:lstStyle/>
          <a:p>
            <a:pPr indent="0" marL="0">
              <a:buNone/>
            </a:pPr>
            <a:r>
              <a:rPr lang="en-US" sz="1800" b="1" dirty="0">
                <a:solidFill>
                  <a:schemeClr val="tx1"/>
                </a:solidFill>
              </a:rPr>
              <a:t>Not in the box? Then the model doesn't know it. It remembers nothing between requests.</a:t>
            </a:r>
            <a:endParaRPr lang="en-US" sz="1800" dirty="0"/>
          </a:p>
        </p:txBody>
      </p:sp>
      <p:sp>
        <p:nvSpPr>
          <p:cNvPr id="15" name="quickcheck"/>
          <p:cNvSpPr/>
          <p:nvPr/>
        </p:nvSpPr>
        <p:spPr>
          <a:xfrm>
            <a:off x="5486400" y="2971800"/>
            <a:ext cx="3200400" cy="1554480"/>
          </a:xfrm>
          <a:prstGeom prst="roundRect">
            <a:avLst>
              <a:gd name="adj" fmla="val 7059"/>
            </a:avLst>
          </a:prstGeom>
          <a:solidFill>
            <a:schemeClr val="bg2"/>
          </a:solidFill>
          <a:ln w="12700">
            <a:solidFill>
              <a:srgbClr val="C9D4E1"/>
            </a:solidFill>
            <a:prstDash val="solid"/>
          </a:ln>
        </p:spPr>
      </p:sp>
      <p:pic>
        <p:nvPicPr>
          <p:cNvPr id="16" name="Image 0" descr="Question icon">    </p:cNvPr>
          <p:cNvPicPr>
            <a:picLocks noChangeAspect="1"/>
          </p:cNvPicPr>
          <p:nvPr/>
        </p:nvPicPr>
        <p:blipFill>
          <a:blip r:embed="rId1"/>
          <a:stretch>
            <a:fillRect/>
          </a:stretch>
        </p:blipFill>
        <p:spPr>
          <a:xfrm>
            <a:off x="5669280" y="3127248"/>
            <a:ext cx="365760" cy="365760"/>
          </a:xfrm>
          <a:prstGeom prst="rect">
            <a:avLst/>
          </a:prstGeom>
        </p:spPr>
      </p:pic>
      <p:sp>
        <p:nvSpPr>
          <p:cNvPr id="17" name="Text 14"/>
          <p:cNvSpPr txBox="1"/>
          <p:nvPr/>
        </p:nvSpPr>
        <p:spPr>
          <a:xfrm>
            <a:off x="6126480" y="3154680"/>
            <a:ext cx="2377440" cy="320040"/>
          </a:xfrm>
          <a:prstGeom prst="rect">
            <a:avLst/>
          </a:prstGeom>
          <a:noFill/>
          <a:ln/>
        </p:spPr>
        <p:txBody>
          <a:bodyPr wrap="square" lIns="0" tIns="0" rIns="0" bIns="0" rtlCol="0" anchor="t"/>
          <a:lstStyle/>
          <a:p>
            <a:pPr indent="0" marL="0">
              <a:buNone/>
            </a:pPr>
            <a:r>
              <a:rPr lang="en-US" sz="1400" b="1" dirty="0">
                <a:solidFill>
                  <a:schemeClr val="accent1"/>
                </a:solidFill>
              </a:rPr>
              <a:t>Quick check</a:t>
            </a:r>
            <a:endParaRPr lang="en-US" sz="1400" dirty="0"/>
          </a:p>
        </p:txBody>
      </p:sp>
      <p:sp>
        <p:nvSpPr>
          <p:cNvPr id="18" name="Text 15"/>
          <p:cNvSpPr txBox="1"/>
          <p:nvPr/>
        </p:nvSpPr>
        <p:spPr>
          <a:xfrm>
            <a:off x="5669280" y="3566160"/>
            <a:ext cx="2834640" cy="868680"/>
          </a:xfrm>
          <a:prstGeom prst="rect">
            <a:avLst/>
          </a:prstGeom>
          <a:noFill/>
          <a:ln/>
        </p:spPr>
        <p:txBody>
          <a:bodyPr wrap="square" lIns="0" tIns="0" rIns="0" bIns="0" rtlCol="0" anchor="t"/>
          <a:lstStyle/>
          <a:p>
            <a:pPr indent="0" marL="0">
              <a:buNone/>
            </a:pPr>
            <a:r>
              <a:rPr lang="en-US" sz="1400" dirty="0">
                <a:solidFill>
                  <a:schemeClr val="tx2"/>
                </a:solidFill>
              </a:rPr>
              <a:t>Delete the chat-history list in your backend. Does the model still remember the conversation?</a:t>
            </a:r>
            <a:endParaRPr lang="en-US" sz="14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200" b="1" dirty="0">
                <a:solidFill>
                  <a:schemeClr val="accent1"/>
                </a:solidFill>
              </a:rPr>
              <a:t>PART 2 · TWO KINDS OF ENGINEERING</a:t>
            </a:r>
            <a:endParaRPr lang="en-US" sz="1200" dirty="0"/>
          </a:p>
        </p:txBody>
      </p:sp>
      <p:sp>
        <p:nvSpPr>
          <p:cNvPr id="3" name="Text 1"/>
          <p:cNvSpPr/>
          <p:nvPr>
            <p:ph idx="103" type="title" hasCustomPrompt="1"/>
          </p:nvPr>
        </p:nvSpPr>
        <p:spPr>
          <a:xfrm>
            <a:off x="457200" y="54864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Prompt engineering vs. context engineering</a:t>
            </a:r>
            <a:endParaRPr lang="en-US" sz="3000" dirty="0"/>
          </a:p>
        </p:txBody>
      </p:sp>
      <p:sp>
        <p:nvSpPr>
          <p:cNvPr id="4" name="eng0"/>
          <p:cNvSpPr/>
          <p:nvPr/>
        </p:nvSpPr>
        <p:spPr>
          <a:xfrm>
            <a:off x="457200" y="1463040"/>
            <a:ext cx="4023360" cy="3063240"/>
          </a:xfrm>
          <a:prstGeom prst="roundRect">
            <a:avLst>
              <a:gd name="adj" fmla="val 3582"/>
            </a:avLst>
          </a:prstGeom>
          <a:solidFill>
            <a:schemeClr val="bg1"/>
          </a:solidFill>
          <a:ln w="12700">
            <a:solidFill>
              <a:srgbClr val="C9D4E1"/>
            </a:solidFill>
            <a:prstDash val="solid"/>
          </a:ln>
        </p:spPr>
      </p:sp>
      <p:pic>
        <p:nvPicPr>
          <p:cNvPr id="5" name="Image 0" descr="Prompt engineering icon">    </p:cNvPr>
          <p:cNvPicPr>
            <a:picLocks noChangeAspect="1"/>
          </p:cNvPicPr>
          <p:nvPr/>
        </p:nvPicPr>
        <p:blipFill>
          <a:blip r:embed="rId1"/>
          <a:stretch>
            <a:fillRect/>
          </a:stretch>
        </p:blipFill>
        <p:spPr>
          <a:xfrm>
            <a:off x="731520" y="1691640"/>
            <a:ext cx="457200" cy="457200"/>
          </a:xfrm>
          <a:prstGeom prst="rect">
            <a:avLst/>
          </a:prstGeom>
        </p:spPr>
      </p:pic>
      <p:sp>
        <p:nvSpPr>
          <p:cNvPr id="6" name="Text 3"/>
          <p:cNvSpPr txBox="1"/>
          <p:nvPr/>
        </p:nvSpPr>
        <p:spPr>
          <a:xfrm>
            <a:off x="1325880" y="1719072"/>
            <a:ext cx="3017520" cy="411480"/>
          </a:xfrm>
          <a:prstGeom prst="rect">
            <a:avLst/>
          </a:prstGeom>
          <a:noFill/>
          <a:ln/>
        </p:spPr>
        <p:txBody>
          <a:bodyPr wrap="square" lIns="0" tIns="0" rIns="0" bIns="0" rtlCol="0" anchor="t"/>
          <a:lstStyle/>
          <a:p>
            <a:pPr indent="0" marL="0">
              <a:buNone/>
            </a:pPr>
            <a:r>
              <a:rPr lang="en-US" sz="2000" b="1" dirty="0">
                <a:solidFill>
                  <a:schemeClr val="tx1"/>
                </a:solidFill>
              </a:rPr>
              <a:t>Prompt engineering</a:t>
            </a:r>
            <a:endParaRPr lang="en-US" sz="2000" dirty="0"/>
          </a:p>
        </p:txBody>
      </p:sp>
      <p:sp>
        <p:nvSpPr>
          <p:cNvPr id="7" name="Text 4"/>
          <p:cNvSpPr txBox="1"/>
          <p:nvPr/>
        </p:nvSpPr>
        <p:spPr>
          <a:xfrm>
            <a:off x="731520" y="2377440"/>
            <a:ext cx="3520440" cy="548640"/>
          </a:xfrm>
          <a:prstGeom prst="rect">
            <a:avLst/>
          </a:prstGeom>
          <a:noFill/>
          <a:ln/>
        </p:spPr>
        <p:txBody>
          <a:bodyPr wrap="square" lIns="0" tIns="0" rIns="0" bIns="0" rtlCol="0" anchor="t"/>
          <a:lstStyle/>
          <a:p>
            <a:pPr indent="0" marL="0">
              <a:buNone/>
            </a:pPr>
            <a:r>
              <a:rPr lang="en-US" sz="1500" b="1" dirty="0">
                <a:solidFill>
                  <a:srgbClr val="F63E02"/>
                </a:solidFill>
              </a:rPr>
              <a:t>Asks  </a:t>
            </a:r>
            <a:pPr indent="0" marL="0">
              <a:buNone/>
            </a:pPr>
            <a:r>
              <a:rPr lang="en-US" sz="1500" dirty="0">
                <a:solidFill>
                  <a:schemeClr val="tx2"/>
                </a:solidFill>
              </a:rPr>
              <a:t>How should I word the request?</a:t>
            </a:r>
            <a:endParaRPr lang="en-US" sz="1500" dirty="0"/>
          </a:p>
        </p:txBody>
      </p:sp>
      <p:sp>
        <p:nvSpPr>
          <p:cNvPr id="8" name="Text 5"/>
          <p:cNvSpPr txBox="1"/>
          <p:nvPr/>
        </p:nvSpPr>
        <p:spPr>
          <a:xfrm>
            <a:off x="731520" y="2971800"/>
            <a:ext cx="3520440" cy="548640"/>
          </a:xfrm>
          <a:prstGeom prst="rect">
            <a:avLst/>
          </a:prstGeom>
          <a:noFill/>
          <a:ln/>
        </p:spPr>
        <p:txBody>
          <a:bodyPr wrap="square" lIns="0" tIns="0" rIns="0" bIns="0" rtlCol="0" anchor="t"/>
          <a:lstStyle/>
          <a:p>
            <a:pPr indent="0" marL="0">
              <a:buNone/>
            </a:pPr>
            <a:r>
              <a:rPr lang="en-US" sz="1500" b="1" dirty="0">
                <a:solidFill>
                  <a:srgbClr val="F63E02"/>
                </a:solidFill>
              </a:rPr>
              <a:t>Lives in  </a:t>
            </a:r>
            <a:pPr indent="0" marL="0">
              <a:buNone/>
            </a:pPr>
            <a:r>
              <a:rPr lang="en-US" sz="1500" dirty="0">
                <a:solidFill>
                  <a:schemeClr val="tx2"/>
                </a:solidFill>
              </a:rPr>
              <a:t>The instruction text</a:t>
            </a:r>
            <a:endParaRPr lang="en-US" sz="1500" dirty="0"/>
          </a:p>
        </p:txBody>
      </p:sp>
      <p:sp>
        <p:nvSpPr>
          <p:cNvPr id="9" name="Text 6"/>
          <p:cNvSpPr txBox="1"/>
          <p:nvPr/>
        </p:nvSpPr>
        <p:spPr>
          <a:xfrm>
            <a:off x="731520" y="3611880"/>
            <a:ext cx="3520440" cy="777240"/>
          </a:xfrm>
          <a:prstGeom prst="rect">
            <a:avLst/>
          </a:prstGeom>
          <a:noFill/>
          <a:ln/>
        </p:spPr>
        <p:txBody>
          <a:bodyPr wrap="square" lIns="0" tIns="0" rIns="0" bIns="0" rtlCol="0" anchor="t"/>
          <a:lstStyle/>
          <a:p>
            <a:pPr indent="0" marL="0">
              <a:buNone/>
            </a:pPr>
            <a:r>
              <a:rPr lang="en-US" sz="1400" i="1" dirty="0">
                <a:solidFill>
                  <a:schemeClr val="accent4"/>
                </a:solidFill>
              </a:rPr>
              <a:t>“Answer in two sentences and cite the policy.”</a:t>
            </a:r>
            <a:endParaRPr lang="en-US" sz="1400" dirty="0"/>
          </a:p>
        </p:txBody>
      </p:sp>
      <p:sp>
        <p:nvSpPr>
          <p:cNvPr id="10" name="eng1"/>
          <p:cNvSpPr/>
          <p:nvPr/>
        </p:nvSpPr>
        <p:spPr>
          <a:xfrm>
            <a:off x="4663440" y="1463040"/>
            <a:ext cx="4023360" cy="3063240"/>
          </a:xfrm>
          <a:prstGeom prst="roundRect">
            <a:avLst>
              <a:gd name="adj" fmla="val 3582"/>
            </a:avLst>
          </a:prstGeom>
          <a:solidFill>
            <a:schemeClr val="bg2"/>
          </a:solidFill>
          <a:ln w="12700">
            <a:solidFill>
              <a:srgbClr val="002D5C"/>
            </a:solidFill>
            <a:prstDash val="solid"/>
          </a:ln>
        </p:spPr>
      </p:sp>
      <p:pic>
        <p:nvPicPr>
          <p:cNvPr id="11" name="Image 1" descr="Context engineering icon">    </p:cNvPr>
          <p:cNvPicPr>
            <a:picLocks noChangeAspect="1"/>
          </p:cNvPicPr>
          <p:nvPr/>
        </p:nvPicPr>
        <p:blipFill>
          <a:blip r:embed="rId2"/>
          <a:stretch>
            <a:fillRect/>
          </a:stretch>
        </p:blipFill>
        <p:spPr>
          <a:xfrm>
            <a:off x="4937760" y="1691640"/>
            <a:ext cx="457200" cy="457200"/>
          </a:xfrm>
          <a:prstGeom prst="rect">
            <a:avLst/>
          </a:prstGeom>
        </p:spPr>
      </p:pic>
      <p:sp>
        <p:nvSpPr>
          <p:cNvPr id="12" name="Text 8"/>
          <p:cNvSpPr txBox="1"/>
          <p:nvPr/>
        </p:nvSpPr>
        <p:spPr>
          <a:xfrm>
            <a:off x="5532120" y="1719072"/>
            <a:ext cx="3017520" cy="411480"/>
          </a:xfrm>
          <a:prstGeom prst="rect">
            <a:avLst/>
          </a:prstGeom>
          <a:noFill/>
          <a:ln/>
        </p:spPr>
        <p:txBody>
          <a:bodyPr wrap="square" lIns="0" tIns="0" rIns="0" bIns="0" rtlCol="0" anchor="t"/>
          <a:lstStyle/>
          <a:p>
            <a:pPr indent="0" marL="0">
              <a:buNone/>
            </a:pPr>
            <a:r>
              <a:rPr lang="en-US" sz="2000" b="1" dirty="0">
                <a:solidFill>
                  <a:schemeClr val="tx1"/>
                </a:solidFill>
              </a:rPr>
              <a:t>Context engineering</a:t>
            </a:r>
            <a:endParaRPr lang="en-US" sz="2000" dirty="0"/>
          </a:p>
        </p:txBody>
      </p:sp>
      <p:sp>
        <p:nvSpPr>
          <p:cNvPr id="13" name="Text 9"/>
          <p:cNvSpPr txBox="1"/>
          <p:nvPr/>
        </p:nvSpPr>
        <p:spPr>
          <a:xfrm>
            <a:off x="4937760" y="2377440"/>
            <a:ext cx="3520440" cy="548640"/>
          </a:xfrm>
          <a:prstGeom prst="rect">
            <a:avLst/>
          </a:prstGeom>
          <a:noFill/>
          <a:ln/>
        </p:spPr>
        <p:txBody>
          <a:bodyPr wrap="square" lIns="0" tIns="0" rIns="0" bIns="0" rtlCol="0" anchor="t"/>
          <a:lstStyle/>
          <a:p>
            <a:pPr indent="0" marL="0">
              <a:buNone/>
            </a:pPr>
            <a:r>
              <a:rPr lang="en-US" sz="1500" b="1" dirty="0">
                <a:solidFill>
                  <a:srgbClr val="F63E02"/>
                </a:solidFill>
              </a:rPr>
              <a:t>Asks  </a:t>
            </a:r>
            <a:pPr indent="0" marL="0">
              <a:buNone/>
            </a:pPr>
            <a:r>
              <a:rPr lang="en-US" sz="1500" dirty="0">
                <a:solidFill>
                  <a:schemeClr val="tx2"/>
                </a:solidFill>
              </a:rPr>
              <a:t>What should the model see at all?</a:t>
            </a:r>
            <a:endParaRPr lang="en-US" sz="1500" dirty="0"/>
          </a:p>
        </p:txBody>
      </p:sp>
      <p:sp>
        <p:nvSpPr>
          <p:cNvPr id="14" name="Text 10"/>
          <p:cNvSpPr txBox="1"/>
          <p:nvPr/>
        </p:nvSpPr>
        <p:spPr>
          <a:xfrm>
            <a:off x="4937760" y="2971800"/>
            <a:ext cx="3520440" cy="548640"/>
          </a:xfrm>
          <a:prstGeom prst="rect">
            <a:avLst/>
          </a:prstGeom>
          <a:noFill/>
          <a:ln/>
        </p:spPr>
        <p:txBody>
          <a:bodyPr wrap="square" lIns="0" tIns="0" rIns="0" bIns="0" rtlCol="0" anchor="t"/>
          <a:lstStyle/>
          <a:p>
            <a:pPr indent="0" marL="0">
              <a:buNone/>
            </a:pPr>
            <a:r>
              <a:rPr lang="en-US" sz="1500" b="1" dirty="0">
                <a:solidFill>
                  <a:srgbClr val="F63E02"/>
                </a:solidFill>
              </a:rPr>
              <a:t>Lives in  </a:t>
            </a:r>
            <a:pPr indent="0" marL="0">
              <a:buNone/>
            </a:pPr>
            <a:r>
              <a:rPr lang="en-US" sz="1500" dirty="0">
                <a:solidFill>
                  <a:schemeClr val="tx2"/>
                </a:solidFill>
              </a:rPr>
              <a:t>Backend code that builds each request</a:t>
            </a:r>
            <a:endParaRPr lang="en-US" sz="1500" dirty="0"/>
          </a:p>
        </p:txBody>
      </p:sp>
      <p:sp>
        <p:nvSpPr>
          <p:cNvPr id="15" name="Text 11"/>
          <p:cNvSpPr txBox="1"/>
          <p:nvPr/>
        </p:nvSpPr>
        <p:spPr>
          <a:xfrm>
            <a:off x="4937760" y="3611880"/>
            <a:ext cx="3520440" cy="777240"/>
          </a:xfrm>
          <a:prstGeom prst="rect">
            <a:avLst/>
          </a:prstGeom>
          <a:noFill/>
          <a:ln/>
        </p:spPr>
        <p:txBody>
          <a:bodyPr wrap="square" lIns="0" tIns="0" rIns="0" bIns="0" rtlCol="0" anchor="t"/>
          <a:lstStyle/>
          <a:p>
            <a:pPr indent="0" marL="0">
              <a:buNone/>
            </a:pPr>
            <a:r>
              <a:rPr lang="en-US" sz="1400" i="1" dirty="0">
                <a:solidFill>
                  <a:schemeClr val="accent4"/>
                </a:solidFill>
              </a:rPr>
              <a:t>Resend the last 6 turns, attach the 3 most relevant policy chunks, list the tools.</a:t>
            </a:r>
            <a:endParaRPr lang="en-US" sz="14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200" b="1" dirty="0">
                <a:solidFill>
                  <a:schemeClr val="accent1"/>
                </a:solidFill>
              </a:rPr>
              <a:t>PART 3 · THE AGENTIC LOOP</a:t>
            </a:r>
            <a:endParaRPr lang="en-US" sz="1200" dirty="0"/>
          </a:p>
        </p:txBody>
      </p:sp>
      <p:sp>
        <p:nvSpPr>
          <p:cNvPr id="3" name="Text 1"/>
          <p:cNvSpPr/>
          <p:nvPr>
            <p:ph idx="103" type="title" hasCustomPrompt="1"/>
          </p:nvPr>
        </p:nvSpPr>
        <p:spPr>
          <a:xfrm>
            <a:off x="457200" y="54864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A chat app is one round trip. An agent is a loop.</a:t>
            </a:r>
            <a:endParaRPr lang="en-US" sz="3000" dirty="0"/>
          </a:p>
        </p:txBody>
      </p:sp>
      <p:sp>
        <p:nvSpPr>
          <p:cNvPr id="4" name="node0"/>
          <p:cNvSpPr/>
          <p:nvPr/>
        </p:nvSpPr>
        <p:spPr>
          <a:xfrm>
            <a:off x="548640" y="1600200"/>
            <a:ext cx="2377440" cy="1051560"/>
          </a:xfrm>
          <a:prstGeom prst="roundRect">
            <a:avLst>
              <a:gd name="adj" fmla="val 10435"/>
            </a:avLst>
          </a:prstGeom>
          <a:solidFill>
            <a:schemeClr val="bg2"/>
          </a:solidFill>
          <a:ln w="12700">
            <a:solidFill>
              <a:srgbClr val="C9D4E1"/>
            </a:solidFill>
            <a:prstDash val="solid"/>
          </a:ln>
        </p:spPr>
      </p:sp>
      <p:sp>
        <p:nvSpPr>
          <p:cNvPr id="5" name="Text 3"/>
          <p:cNvSpPr txBox="1"/>
          <p:nvPr/>
        </p:nvSpPr>
        <p:spPr>
          <a:xfrm>
            <a:off x="731520" y="1737360"/>
            <a:ext cx="2057400" cy="365760"/>
          </a:xfrm>
          <a:prstGeom prst="rect">
            <a:avLst/>
          </a:prstGeom>
          <a:noFill/>
          <a:ln/>
        </p:spPr>
        <p:txBody>
          <a:bodyPr wrap="square" lIns="0" tIns="0" rIns="0" bIns="0" rtlCol="0" anchor="t"/>
          <a:lstStyle/>
          <a:p>
            <a:pPr indent="0" marL="0">
              <a:buNone/>
            </a:pPr>
            <a:r>
              <a:rPr lang="en-US" sz="1600" b="1" dirty="0">
                <a:solidFill>
                  <a:schemeClr val="tx1"/>
                </a:solidFill>
              </a:rPr>
              <a:t>1 · Model decides</a:t>
            </a:r>
            <a:endParaRPr lang="en-US" sz="1600" dirty="0"/>
          </a:p>
        </p:txBody>
      </p:sp>
      <p:sp>
        <p:nvSpPr>
          <p:cNvPr id="6" name="Text 4"/>
          <p:cNvSpPr txBox="1"/>
          <p:nvPr/>
        </p:nvSpPr>
        <p:spPr>
          <a:xfrm>
            <a:off x="731520" y="2103120"/>
            <a:ext cx="2057400" cy="457200"/>
          </a:xfrm>
          <a:prstGeom prst="rect">
            <a:avLst/>
          </a:prstGeom>
          <a:noFill/>
          <a:ln/>
        </p:spPr>
        <p:txBody>
          <a:bodyPr wrap="square" lIns="0" tIns="0" rIns="0" bIns="0" rtlCol="0" anchor="t"/>
          <a:lstStyle/>
          <a:p>
            <a:pPr indent="0" marL="0">
              <a:buNone/>
            </a:pPr>
            <a:r>
              <a:rPr lang="en-US" sz="1300" dirty="0">
                <a:solidFill>
                  <a:schemeClr val="tx2"/>
                </a:solidFill>
              </a:rPr>
              <a:t>Text answer, or a function call?</a:t>
            </a:r>
            <a:endParaRPr lang="en-US" sz="1300" dirty="0"/>
          </a:p>
        </p:txBody>
      </p:sp>
      <p:sp>
        <p:nvSpPr>
          <p:cNvPr id="7" name="node1"/>
          <p:cNvSpPr/>
          <p:nvPr/>
        </p:nvSpPr>
        <p:spPr>
          <a:xfrm>
            <a:off x="3383280" y="1600200"/>
            <a:ext cx="2377440" cy="1051560"/>
          </a:xfrm>
          <a:prstGeom prst="roundRect">
            <a:avLst>
              <a:gd name="adj" fmla="val 10435"/>
            </a:avLst>
          </a:prstGeom>
          <a:solidFill>
            <a:schemeClr val="bg2"/>
          </a:solidFill>
          <a:ln w="12700">
            <a:solidFill>
              <a:srgbClr val="C9D4E1"/>
            </a:solidFill>
            <a:prstDash val="solid"/>
          </a:ln>
        </p:spPr>
      </p:sp>
      <p:sp>
        <p:nvSpPr>
          <p:cNvPr id="8" name="Text 6"/>
          <p:cNvSpPr txBox="1"/>
          <p:nvPr/>
        </p:nvSpPr>
        <p:spPr>
          <a:xfrm>
            <a:off x="3566160" y="1737360"/>
            <a:ext cx="2057400" cy="365760"/>
          </a:xfrm>
          <a:prstGeom prst="rect">
            <a:avLst/>
          </a:prstGeom>
          <a:noFill/>
          <a:ln/>
        </p:spPr>
        <p:txBody>
          <a:bodyPr wrap="square" lIns="0" tIns="0" rIns="0" bIns="0" rtlCol="0" anchor="t"/>
          <a:lstStyle/>
          <a:p>
            <a:pPr indent="0" marL="0">
              <a:buNone/>
            </a:pPr>
            <a:r>
              <a:rPr lang="en-US" sz="1600" b="1" dirty="0">
                <a:solidFill>
                  <a:schemeClr val="tx1"/>
                </a:solidFill>
              </a:rPr>
              <a:t>2 · Function call</a:t>
            </a:r>
            <a:endParaRPr lang="en-US" sz="1600" dirty="0"/>
          </a:p>
        </p:txBody>
      </p:sp>
      <p:sp>
        <p:nvSpPr>
          <p:cNvPr id="9" name="Text 7"/>
          <p:cNvSpPr txBox="1"/>
          <p:nvPr/>
        </p:nvSpPr>
        <p:spPr>
          <a:xfrm>
            <a:off x="3566160" y="2103120"/>
            <a:ext cx="2057400" cy="457200"/>
          </a:xfrm>
          <a:prstGeom prst="rect">
            <a:avLst/>
          </a:prstGeom>
          <a:noFill/>
          <a:ln/>
        </p:spPr>
        <p:txBody>
          <a:bodyPr wrap="square" lIns="0" tIns="0" rIns="0" bIns="0" rtlCol="0" anchor="t"/>
          <a:lstStyle/>
          <a:p>
            <a:pPr indent="0" marL="0">
              <a:buNone/>
            </a:pPr>
            <a:r>
              <a:rPr lang="en-US" sz="1300" dirty="0">
                <a:solidFill>
                  <a:schemeClr val="tx2"/>
                </a:solidFill>
              </a:rPr>
              <a:t>A name and arguments. No text yet.</a:t>
            </a:r>
            <a:endParaRPr lang="en-US" sz="1300" dirty="0"/>
          </a:p>
        </p:txBody>
      </p:sp>
      <p:sp>
        <p:nvSpPr>
          <p:cNvPr id="10" name="node2"/>
          <p:cNvSpPr/>
          <p:nvPr/>
        </p:nvSpPr>
        <p:spPr>
          <a:xfrm>
            <a:off x="3383280" y="3246120"/>
            <a:ext cx="2377440" cy="1051560"/>
          </a:xfrm>
          <a:prstGeom prst="roundRect">
            <a:avLst>
              <a:gd name="adj" fmla="val 10435"/>
            </a:avLst>
          </a:prstGeom>
          <a:solidFill>
            <a:schemeClr val="tx1"/>
          </a:solidFill>
          <a:ln w="12700">
            <a:solidFill>
              <a:srgbClr val="002D5C"/>
            </a:solidFill>
            <a:prstDash val="solid"/>
          </a:ln>
        </p:spPr>
      </p:sp>
      <p:sp>
        <p:nvSpPr>
          <p:cNvPr id="11" name="Text 9"/>
          <p:cNvSpPr txBox="1"/>
          <p:nvPr/>
        </p:nvSpPr>
        <p:spPr>
          <a:xfrm>
            <a:off x="3566160" y="3383280"/>
            <a:ext cx="2057400" cy="365760"/>
          </a:xfrm>
          <a:prstGeom prst="rect">
            <a:avLst/>
          </a:prstGeom>
          <a:noFill/>
          <a:ln/>
        </p:spPr>
        <p:txBody>
          <a:bodyPr wrap="square" lIns="0" tIns="0" rIns="0" bIns="0" rtlCol="0" anchor="t"/>
          <a:lstStyle/>
          <a:p>
            <a:pPr indent="0" marL="0">
              <a:buNone/>
            </a:pPr>
            <a:r>
              <a:rPr lang="en-US" sz="1600" b="1" dirty="0">
                <a:solidFill>
                  <a:schemeClr val="bg1"/>
                </a:solidFill>
              </a:rPr>
              <a:t>3 · Your code runs it</a:t>
            </a:r>
            <a:endParaRPr lang="en-US" sz="1600" dirty="0"/>
          </a:p>
        </p:txBody>
      </p:sp>
      <p:sp>
        <p:nvSpPr>
          <p:cNvPr id="12" name="Text 10"/>
          <p:cNvSpPr txBox="1"/>
          <p:nvPr/>
        </p:nvSpPr>
        <p:spPr>
          <a:xfrm>
            <a:off x="3566160" y="3749040"/>
            <a:ext cx="2057400" cy="457200"/>
          </a:xfrm>
          <a:prstGeom prst="rect">
            <a:avLst/>
          </a:prstGeom>
          <a:noFill/>
          <a:ln/>
        </p:spPr>
        <p:txBody>
          <a:bodyPr wrap="square" lIns="0" tIns="0" rIns="0" bIns="0" rtlCol="0" anchor="t"/>
          <a:lstStyle/>
          <a:p>
            <a:pPr indent="0" marL="0">
              <a:buNone/>
            </a:pPr>
            <a:r>
              <a:rPr lang="en-US" sz="1300" dirty="0">
                <a:solidFill>
                  <a:schemeClr val="bg1"/>
                </a:solidFill>
              </a:rPr>
              <a:t>The backend calls the real function</a:t>
            </a:r>
            <a:endParaRPr lang="en-US" sz="1300" dirty="0"/>
          </a:p>
        </p:txBody>
      </p:sp>
      <p:sp>
        <p:nvSpPr>
          <p:cNvPr id="13" name="node3"/>
          <p:cNvSpPr/>
          <p:nvPr/>
        </p:nvSpPr>
        <p:spPr>
          <a:xfrm>
            <a:off x="548640" y="3246120"/>
            <a:ext cx="2377440" cy="1051560"/>
          </a:xfrm>
          <a:prstGeom prst="roundRect">
            <a:avLst>
              <a:gd name="adj" fmla="val 10435"/>
            </a:avLst>
          </a:prstGeom>
          <a:solidFill>
            <a:schemeClr val="bg2"/>
          </a:solidFill>
          <a:ln w="12700">
            <a:solidFill>
              <a:srgbClr val="C9D4E1"/>
            </a:solidFill>
            <a:prstDash val="solid"/>
          </a:ln>
        </p:spPr>
      </p:sp>
      <p:sp>
        <p:nvSpPr>
          <p:cNvPr id="14" name="Text 12"/>
          <p:cNvSpPr txBox="1"/>
          <p:nvPr/>
        </p:nvSpPr>
        <p:spPr>
          <a:xfrm>
            <a:off x="731520" y="3383280"/>
            <a:ext cx="2057400" cy="365760"/>
          </a:xfrm>
          <a:prstGeom prst="rect">
            <a:avLst/>
          </a:prstGeom>
          <a:noFill/>
          <a:ln/>
        </p:spPr>
        <p:txBody>
          <a:bodyPr wrap="square" lIns="0" tIns="0" rIns="0" bIns="0" rtlCol="0" anchor="t"/>
          <a:lstStyle/>
          <a:p>
            <a:pPr indent="0" marL="0">
              <a:buNone/>
            </a:pPr>
            <a:r>
              <a:rPr lang="en-US" sz="1600" b="1" dirty="0">
                <a:solidFill>
                  <a:schemeClr val="tx1"/>
                </a:solidFill>
              </a:rPr>
              <a:t>4 · Result goes back</a:t>
            </a:r>
            <a:endParaRPr lang="en-US" sz="1600" dirty="0"/>
          </a:p>
        </p:txBody>
      </p:sp>
      <p:sp>
        <p:nvSpPr>
          <p:cNvPr id="15" name="Text 13"/>
          <p:cNvSpPr txBox="1"/>
          <p:nvPr/>
        </p:nvSpPr>
        <p:spPr>
          <a:xfrm>
            <a:off x="731520" y="3749040"/>
            <a:ext cx="2057400" cy="457200"/>
          </a:xfrm>
          <a:prstGeom prst="rect">
            <a:avLst/>
          </a:prstGeom>
          <a:noFill/>
          <a:ln/>
        </p:spPr>
        <p:txBody>
          <a:bodyPr wrap="square" lIns="0" tIns="0" rIns="0" bIns="0" rtlCol="0" anchor="t"/>
          <a:lstStyle/>
          <a:p>
            <a:pPr indent="0" marL="0">
              <a:buNone/>
            </a:pPr>
            <a:r>
              <a:rPr lang="en-US" sz="1300" dirty="0">
                <a:solidFill>
                  <a:schemeClr val="tx2"/>
                </a:solidFill>
              </a:rPr>
              <a:t>The model reads it and decides again</a:t>
            </a:r>
            <a:endParaRPr lang="en-US" sz="1300" dirty="0"/>
          </a:p>
        </p:txBody>
      </p:sp>
      <p:sp>
        <p:nvSpPr>
          <p:cNvPr id="16" name="loopArrow0"/>
          <p:cNvSpPr txBox="1"/>
          <p:nvPr/>
        </p:nvSpPr>
        <p:spPr>
          <a:xfrm>
            <a:off x="2971800" y="1920240"/>
            <a:ext cx="365760"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7" name="loopArrow1"/>
          <p:cNvSpPr txBox="1"/>
          <p:nvPr/>
        </p:nvSpPr>
        <p:spPr>
          <a:xfrm>
            <a:off x="4434840" y="2697480"/>
            <a:ext cx="365760"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8" name="loopArrow2"/>
          <p:cNvSpPr txBox="1"/>
          <p:nvPr/>
        </p:nvSpPr>
        <p:spPr>
          <a:xfrm>
            <a:off x="2971800" y="3566160"/>
            <a:ext cx="365760"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sp>
        <p:nvSpPr>
          <p:cNvPr id="19" name="loopArrow3"/>
          <p:cNvSpPr txBox="1"/>
          <p:nvPr/>
        </p:nvSpPr>
        <p:spPr>
          <a:xfrm>
            <a:off x="1600200" y="2697480"/>
            <a:ext cx="365760" cy="457200"/>
          </a:xfrm>
          <a:prstGeom prst="rect">
            <a:avLst/>
          </a:prstGeom>
          <a:noFill/>
          <a:ln/>
        </p:spPr>
        <p:txBody>
          <a:bodyPr wrap="square" lIns="0" tIns="0" rIns="0" bIns="0" rtlCol="0" anchor="ctr"/>
          <a:lstStyle/>
          <a:p>
            <a:pPr algn="ctr" indent="0" marL="0">
              <a:buNone/>
            </a:pPr>
            <a:r>
              <a:rPr lang="en-US" sz="2400" b="1" dirty="0">
                <a:solidFill>
                  <a:schemeClr val="accent1"/>
                </a:solidFill>
              </a:rPr>
              <a:t>↑</a:t>
            </a:r>
            <a:endParaRPr lang="en-US" sz="2400" dirty="0"/>
          </a:p>
        </p:txBody>
      </p:sp>
      <p:pic>
        <p:nvPicPr>
          <p:cNvPr id="20" name="Image 0" descr="Repeat icon">    </p:cNvPr>
          <p:cNvPicPr>
            <a:picLocks noChangeAspect="1"/>
          </p:cNvPicPr>
          <p:nvPr/>
        </p:nvPicPr>
        <p:blipFill>
          <a:blip r:embed="rId1"/>
          <a:stretch>
            <a:fillRect/>
          </a:stretch>
        </p:blipFill>
        <p:spPr>
          <a:xfrm>
            <a:off x="2011680" y="2743200"/>
            <a:ext cx="457200" cy="457200"/>
          </a:xfrm>
          <a:prstGeom prst="rect">
            <a:avLst/>
          </a:prstGeom>
        </p:spPr>
      </p:pic>
      <p:sp>
        <p:nvSpPr>
          <p:cNvPr id="21" name="exit"/>
          <p:cNvSpPr/>
          <p:nvPr/>
        </p:nvSpPr>
        <p:spPr>
          <a:xfrm>
            <a:off x="6172200" y="1600200"/>
            <a:ext cx="2514600" cy="2697480"/>
          </a:xfrm>
          <a:prstGeom prst="roundRect">
            <a:avLst>
              <a:gd name="adj" fmla="val 4364"/>
            </a:avLst>
          </a:prstGeom>
          <a:solidFill>
            <a:schemeClr val="bg1"/>
          </a:solidFill>
          <a:ln w="12700">
            <a:solidFill>
              <a:srgbClr val="3BBABD"/>
            </a:solidFill>
            <a:prstDash val="solid"/>
          </a:ln>
        </p:spPr>
      </p:sp>
      <p:sp>
        <p:nvSpPr>
          <p:cNvPr id="22" name="Text 19"/>
          <p:cNvSpPr txBox="1"/>
          <p:nvPr/>
        </p:nvSpPr>
        <p:spPr>
          <a:xfrm>
            <a:off x="6400800" y="1783080"/>
            <a:ext cx="2103120" cy="365760"/>
          </a:xfrm>
          <a:prstGeom prst="rect">
            <a:avLst/>
          </a:prstGeom>
          <a:noFill/>
          <a:ln/>
        </p:spPr>
        <p:txBody>
          <a:bodyPr wrap="square" lIns="0" tIns="0" rIns="0" bIns="0" rtlCol="0" anchor="t"/>
          <a:lstStyle/>
          <a:p>
            <a:pPr indent="0" marL="0">
              <a:buNone/>
            </a:pPr>
            <a:r>
              <a:rPr lang="en-US" sz="1800" b="1" dirty="0">
                <a:solidFill>
                  <a:schemeClr val="tx1"/>
                </a:solidFill>
              </a:rPr>
              <a:t>The loop ends</a:t>
            </a:r>
            <a:endParaRPr lang="en-US" sz="1800" dirty="0"/>
          </a:p>
        </p:txBody>
      </p:sp>
      <p:sp>
        <p:nvSpPr>
          <p:cNvPr id="23" name="Text 20"/>
          <p:cNvSpPr txBox="1"/>
          <p:nvPr/>
        </p:nvSpPr>
        <p:spPr>
          <a:xfrm>
            <a:off x="6400800" y="2194560"/>
            <a:ext cx="2103120" cy="914400"/>
          </a:xfrm>
          <a:prstGeom prst="rect">
            <a:avLst/>
          </a:prstGeom>
          <a:noFill/>
          <a:ln/>
        </p:spPr>
        <p:txBody>
          <a:bodyPr wrap="square" lIns="0" tIns="0" rIns="0" bIns="0" rtlCol="0" anchor="t"/>
          <a:lstStyle/>
          <a:p>
            <a:pPr indent="0" marL="0">
              <a:buNone/>
            </a:pPr>
            <a:r>
              <a:rPr lang="en-US" sz="1400" dirty="0">
                <a:solidFill>
                  <a:schemeClr val="tx2"/>
                </a:solidFill>
              </a:rPr>
              <a:t>when the model answers in plain text. That answer goes back to the frontend.</a:t>
            </a:r>
            <a:endParaRPr lang="en-US" sz="1400" dirty="0"/>
          </a:p>
        </p:txBody>
      </p:sp>
      <p:sp>
        <p:nvSpPr>
          <p:cNvPr id="24" name="Text 21"/>
          <p:cNvSpPr txBox="1"/>
          <p:nvPr/>
        </p:nvSpPr>
        <p:spPr>
          <a:xfrm>
            <a:off x="6400800" y="3154680"/>
            <a:ext cx="2103120" cy="1005840"/>
          </a:xfrm>
          <a:prstGeom prst="rect">
            <a:avLst/>
          </a:prstGeom>
          <a:noFill/>
          <a:ln/>
        </p:spPr>
        <p:txBody>
          <a:bodyPr wrap="square" lIns="0" tIns="0" rIns="0" bIns="0" rtlCol="0" anchor="t"/>
          <a:lstStyle/>
          <a:p>
            <a:pPr indent="0" marL="0">
              <a:buNone/>
            </a:pPr>
            <a:r>
              <a:rPr lang="en-US" sz="1300" i="1" dirty="0">
                <a:solidFill>
                  <a:schemeClr val="accent4"/>
                </a:solidFill>
              </a:rPr>
              <a:t>Your backend also sets a limit, so a confused loop can't run forever.</a:t>
            </a:r>
            <a:endParaRPr lang="en-US" sz="13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200" b="1" dirty="0">
                <a:solidFill>
                  <a:schemeClr val="accent1"/>
                </a:solidFill>
              </a:rPr>
              <a:t>PART 3 · ONE REQUEST, STEP BY STEP</a:t>
            </a:r>
            <a:endParaRPr lang="en-US" sz="1200" dirty="0"/>
          </a:p>
        </p:txBody>
      </p:sp>
      <p:sp>
        <p:nvSpPr>
          <p:cNvPr id="3" name="Text 1"/>
          <p:cNvSpPr/>
          <p:nvPr>
            <p:ph idx="103" type="title" hasCustomPrompt="1"/>
          </p:nvPr>
        </p:nvSpPr>
        <p:spPr>
          <a:xfrm>
            <a:off x="457200" y="54864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“What's 342 times 87?”</a:t>
            </a:r>
            <a:endParaRPr lang="en-US" sz="3000" dirty="0"/>
          </a:p>
        </p:txBody>
      </p:sp>
      <p:sp>
        <p:nvSpPr>
          <p:cNvPr id="4" name="num0"/>
          <p:cNvSpPr/>
          <p:nvPr/>
        </p:nvSpPr>
        <p:spPr>
          <a:xfrm>
            <a:off x="457200" y="1581912"/>
            <a:ext cx="502920" cy="502920"/>
          </a:xfrm>
          <a:prstGeom prst="ellipse">
            <a:avLst/>
          </a:prstGeom>
          <a:solidFill>
            <a:schemeClr val="tx1"/>
          </a:solidFill>
          <a:ln w="12700">
            <a:solidFill>
              <a:srgbClr val="002D5C"/>
            </a:solidFill>
            <a:prstDash val="solid"/>
          </a:ln>
        </p:spPr>
      </p:sp>
      <p:sp>
        <p:nvSpPr>
          <p:cNvPr id="5" name="Text 3"/>
          <p:cNvSpPr txBox="1"/>
          <p:nvPr/>
        </p:nvSpPr>
        <p:spPr>
          <a:xfrm>
            <a:off x="457200" y="158191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143000" y="1508760"/>
            <a:ext cx="3337560" cy="822960"/>
          </a:xfrm>
          <a:prstGeom prst="rect">
            <a:avLst/>
          </a:prstGeom>
          <a:noFill/>
          <a:ln/>
        </p:spPr>
        <p:txBody>
          <a:bodyPr wrap="square" lIns="0" tIns="0" rIns="0" bIns="0" rtlCol="0" anchor="ctr"/>
          <a:lstStyle/>
          <a:p>
            <a:pPr indent="0" marL="0">
              <a:buNone/>
            </a:pPr>
            <a:r>
              <a:rPr lang="en-US" sz="1500" dirty="0">
                <a:solidFill>
                  <a:schemeClr val="tx2"/>
                </a:solidFill>
              </a:rPr>
              <a:t>The frontend POSTs the message to /chat</a:t>
            </a:r>
            <a:endParaRPr lang="en-US" sz="1500" dirty="0"/>
          </a:p>
        </p:txBody>
      </p:sp>
      <p:sp>
        <p:nvSpPr>
          <p:cNvPr id="7" name="num1"/>
          <p:cNvSpPr/>
          <p:nvPr/>
        </p:nvSpPr>
        <p:spPr>
          <a:xfrm>
            <a:off x="457200" y="2606040"/>
            <a:ext cx="502920" cy="502920"/>
          </a:xfrm>
          <a:prstGeom prst="ellipse">
            <a:avLst/>
          </a:prstGeom>
          <a:solidFill>
            <a:schemeClr val="tx1"/>
          </a:solidFill>
          <a:ln w="12700">
            <a:solidFill>
              <a:srgbClr val="002D5C"/>
            </a:solidFill>
            <a:prstDash val="solid"/>
          </a:ln>
        </p:spPr>
      </p:sp>
      <p:sp>
        <p:nvSpPr>
          <p:cNvPr id="8" name="Text 6"/>
          <p:cNvSpPr txBox="1"/>
          <p:nvPr/>
        </p:nvSpPr>
        <p:spPr>
          <a:xfrm>
            <a:off x="457200" y="2606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143000" y="2532888"/>
            <a:ext cx="3337560" cy="822960"/>
          </a:xfrm>
          <a:prstGeom prst="rect">
            <a:avLst/>
          </a:prstGeom>
          <a:noFill/>
          <a:ln/>
        </p:spPr>
        <p:txBody>
          <a:bodyPr wrap="square" lIns="0" tIns="0" rIns="0" bIns="0" rtlCol="0" anchor="ctr"/>
          <a:lstStyle/>
          <a:p>
            <a:pPr indent="0" marL="0">
              <a:buNone/>
            </a:pPr>
            <a:r>
              <a:rPr lang="en-US" sz="1500" dirty="0">
                <a:solidFill>
                  <a:schemeClr val="tx2"/>
                </a:solidFill>
              </a:rPr>
              <a:t>The backend sends it to Gemini with the calculate tool's declaration</a:t>
            </a:r>
            <a:endParaRPr lang="en-US" sz="1500" dirty="0"/>
          </a:p>
        </p:txBody>
      </p:sp>
      <p:sp>
        <p:nvSpPr>
          <p:cNvPr id="10" name="num2"/>
          <p:cNvSpPr/>
          <p:nvPr/>
        </p:nvSpPr>
        <p:spPr>
          <a:xfrm>
            <a:off x="457200" y="3630168"/>
            <a:ext cx="502920" cy="502920"/>
          </a:xfrm>
          <a:prstGeom prst="ellipse">
            <a:avLst/>
          </a:prstGeom>
          <a:solidFill>
            <a:schemeClr val="tx1"/>
          </a:solidFill>
          <a:ln w="12700">
            <a:solidFill>
              <a:srgbClr val="002D5C"/>
            </a:solidFill>
            <a:prstDash val="solid"/>
          </a:ln>
        </p:spPr>
      </p:sp>
      <p:sp>
        <p:nvSpPr>
          <p:cNvPr id="11" name="Text 9"/>
          <p:cNvSpPr txBox="1"/>
          <p:nvPr/>
        </p:nvSpPr>
        <p:spPr>
          <a:xfrm>
            <a:off x="457200" y="36301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1143000" y="3557016"/>
            <a:ext cx="3337560" cy="822960"/>
          </a:xfrm>
          <a:prstGeom prst="rect">
            <a:avLst/>
          </a:prstGeom>
          <a:noFill/>
          <a:ln/>
        </p:spPr>
        <p:txBody>
          <a:bodyPr wrap="square" lIns="0" tIns="0" rIns="0" bIns="0" rtlCol="0" anchor="ctr"/>
          <a:lstStyle/>
          <a:p>
            <a:pPr indent="0" marL="0">
              <a:buNone/>
            </a:pPr>
            <a:r>
              <a:rPr lang="en-US" sz="1500" dirty="0">
                <a:solidFill>
                  <a:schemeClr val="tx2"/>
                </a:solidFill>
              </a:rPr>
              <a:t>Gemini replies with a function call: calculate("342*87"). No text yet.</a:t>
            </a:r>
            <a:endParaRPr lang="en-US" sz="1500" dirty="0"/>
          </a:p>
        </p:txBody>
      </p:sp>
      <p:sp>
        <p:nvSpPr>
          <p:cNvPr id="13" name="num3"/>
          <p:cNvSpPr/>
          <p:nvPr/>
        </p:nvSpPr>
        <p:spPr>
          <a:xfrm>
            <a:off x="4663440" y="1581912"/>
            <a:ext cx="502920" cy="502920"/>
          </a:xfrm>
          <a:prstGeom prst="ellipse">
            <a:avLst/>
          </a:prstGeom>
          <a:solidFill>
            <a:schemeClr val="accent1"/>
          </a:solidFill>
          <a:ln w="12700">
            <a:solidFill>
              <a:srgbClr val="F63E02"/>
            </a:solidFill>
            <a:prstDash val="solid"/>
          </a:ln>
        </p:spPr>
      </p:sp>
      <p:sp>
        <p:nvSpPr>
          <p:cNvPr id="14" name="Text 12"/>
          <p:cNvSpPr txBox="1"/>
          <p:nvPr/>
        </p:nvSpPr>
        <p:spPr>
          <a:xfrm>
            <a:off x="4663440" y="158191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5349240" y="1508760"/>
            <a:ext cx="3337560" cy="822960"/>
          </a:xfrm>
          <a:prstGeom prst="rect">
            <a:avLst/>
          </a:prstGeom>
          <a:noFill/>
          <a:ln/>
        </p:spPr>
        <p:txBody>
          <a:bodyPr wrap="square" lIns="0" tIns="0" rIns="0" bIns="0" rtlCol="0" anchor="ctr"/>
          <a:lstStyle/>
          <a:p>
            <a:pPr indent="0" marL="0">
              <a:buNone/>
            </a:pPr>
            <a:r>
              <a:rPr lang="en-US" sz="1500" b="1" dirty="0">
                <a:solidFill>
                  <a:schemeClr val="tx1"/>
                </a:solidFill>
              </a:rPr>
              <a:t>The backend runs the real Python function: 29754</a:t>
            </a:r>
            <a:endParaRPr lang="en-US" sz="1500" dirty="0"/>
          </a:p>
        </p:txBody>
      </p:sp>
      <p:sp>
        <p:nvSpPr>
          <p:cNvPr id="16" name="num4"/>
          <p:cNvSpPr/>
          <p:nvPr/>
        </p:nvSpPr>
        <p:spPr>
          <a:xfrm>
            <a:off x="4663440" y="2606040"/>
            <a:ext cx="502920" cy="502920"/>
          </a:xfrm>
          <a:prstGeom prst="ellipse">
            <a:avLst/>
          </a:prstGeom>
          <a:solidFill>
            <a:schemeClr val="tx1"/>
          </a:solidFill>
          <a:ln w="12700">
            <a:solidFill>
              <a:srgbClr val="002D5C"/>
            </a:solidFill>
            <a:prstDash val="solid"/>
          </a:ln>
        </p:spPr>
      </p:sp>
      <p:sp>
        <p:nvSpPr>
          <p:cNvPr id="17" name="Text 15"/>
          <p:cNvSpPr txBox="1"/>
          <p:nvPr/>
        </p:nvSpPr>
        <p:spPr>
          <a:xfrm>
            <a:off x="4663440" y="26060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5349240" y="2532888"/>
            <a:ext cx="3337560" cy="822960"/>
          </a:xfrm>
          <a:prstGeom prst="rect">
            <a:avLst/>
          </a:prstGeom>
          <a:noFill/>
          <a:ln/>
        </p:spPr>
        <p:txBody>
          <a:bodyPr wrap="square" lIns="0" tIns="0" rIns="0" bIns="0" rtlCol="0" anchor="ctr"/>
          <a:lstStyle/>
          <a:p>
            <a:pPr indent="0" marL="0">
              <a:buNone/>
            </a:pPr>
            <a:r>
              <a:rPr lang="en-US" sz="1500" dirty="0">
                <a:solidFill>
                  <a:schemeClr val="tx2"/>
                </a:solidFill>
              </a:rPr>
              <a:t>The backend sends that result back to Gemini, with the history so far</a:t>
            </a:r>
            <a:endParaRPr lang="en-US" sz="1500" dirty="0"/>
          </a:p>
        </p:txBody>
      </p:sp>
      <p:sp>
        <p:nvSpPr>
          <p:cNvPr id="19" name="num5"/>
          <p:cNvSpPr/>
          <p:nvPr/>
        </p:nvSpPr>
        <p:spPr>
          <a:xfrm>
            <a:off x="4663440" y="3630168"/>
            <a:ext cx="502920" cy="502920"/>
          </a:xfrm>
          <a:prstGeom prst="ellipse">
            <a:avLst/>
          </a:prstGeom>
          <a:solidFill>
            <a:schemeClr val="tx1"/>
          </a:solidFill>
          <a:ln w="12700">
            <a:solidFill>
              <a:srgbClr val="002D5C"/>
            </a:solidFill>
            <a:prstDash val="solid"/>
          </a:ln>
        </p:spPr>
      </p:sp>
      <p:sp>
        <p:nvSpPr>
          <p:cNvPr id="20" name="Text 18"/>
          <p:cNvSpPr txBox="1"/>
          <p:nvPr/>
        </p:nvSpPr>
        <p:spPr>
          <a:xfrm>
            <a:off x="4663440" y="36301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1" name="Text 19"/>
          <p:cNvSpPr txBox="1"/>
          <p:nvPr/>
        </p:nvSpPr>
        <p:spPr>
          <a:xfrm>
            <a:off x="5349240" y="3557016"/>
            <a:ext cx="3337560" cy="822960"/>
          </a:xfrm>
          <a:prstGeom prst="rect">
            <a:avLst/>
          </a:prstGeom>
          <a:noFill/>
          <a:ln/>
        </p:spPr>
        <p:txBody>
          <a:bodyPr wrap="square" lIns="0" tIns="0" rIns="0" bIns="0" rtlCol="0" anchor="ctr"/>
          <a:lstStyle/>
          <a:p>
            <a:pPr indent="0" marL="0">
              <a:buNone/>
            </a:pPr>
            <a:r>
              <a:rPr lang="en-US" sz="1500" dirty="0">
                <a:solidFill>
                  <a:schemeClr val="tx2"/>
                </a:solidFill>
              </a:rPr>
              <a:t>Gemini answers in text: “342 × 87 = 29,754.” The frontend shows it.</a:t>
            </a:r>
            <a:endParaRPr lang="en-US" sz="15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457200" y="292608"/>
            <a:ext cx="8229600" cy="274320"/>
          </a:xfrm>
          <a:prstGeom prst="rect">
            <a:avLst/>
          </a:prstGeom>
          <a:noFill/>
          <a:ln/>
        </p:spPr>
        <p:txBody>
          <a:bodyPr wrap="square" lIns="0" tIns="0" rIns="0" bIns="0" rtlCol="0"/>
          <a:lstStyle/>
          <a:p>
            <a:pPr indent="0" marL="0">
              <a:buNone/>
            </a:pPr>
            <a:r>
              <a:rPr lang="en-US" sz="1200" b="1" dirty="0">
                <a:solidFill>
                  <a:schemeClr val="accent1"/>
                </a:solidFill>
              </a:rPr>
              <a:t>PART 3 · THE KEY PROPERTY</a:t>
            </a:r>
            <a:endParaRPr lang="en-US" sz="1200" dirty="0"/>
          </a:p>
        </p:txBody>
      </p:sp>
      <p:sp>
        <p:nvSpPr>
          <p:cNvPr id="3" name="Text 1"/>
          <p:cNvSpPr/>
          <p:nvPr>
            <p:ph idx="103" type="title" hasCustomPrompt="1"/>
          </p:nvPr>
        </p:nvSpPr>
        <p:spPr>
          <a:xfrm>
            <a:off x="457200" y="548640"/>
            <a:ext cx="8229600" cy="640080"/>
          </a:xfrm>
          <a:prstGeom prst="rect">
            <a:avLst/>
          </a:prstGeom>
          <a:noFill/>
          <a:ln/>
        </p:spPr>
        <p:txBody>
          <a:bodyPr wrap="square" lIns="0" tIns="0" rIns="0" bIns="0" rtlCol="0" anchor="t"/>
          <a:lstStyle/>
          <a:p>
            <a:pPr algn="l" indent="0" marL="0">
              <a:buNone/>
            </a:pPr>
            <a:r>
              <a:rPr lang="en-US" sz="3000" b="1" dirty="0">
                <a:solidFill>
                  <a:schemeClr val="tx1"/>
                </a:solidFill>
              </a:rPr>
              <a:t>The model never runs the function. It only asks.</a:t>
            </a:r>
            <a:endParaRPr lang="en-US" sz="3000" dirty="0"/>
          </a:p>
        </p:txBody>
      </p:sp>
      <p:sp>
        <p:nvSpPr>
          <p:cNvPr id="4" name="codebox"/>
          <p:cNvSpPr/>
          <p:nvPr/>
        </p:nvSpPr>
        <p:spPr>
          <a:xfrm>
            <a:off x="457200" y="1463040"/>
            <a:ext cx="4572000" cy="3063240"/>
          </a:xfrm>
          <a:prstGeom prst="roundRect">
            <a:avLst>
              <a:gd name="adj" fmla="val 3582"/>
            </a:avLst>
          </a:prstGeom>
          <a:solidFill>
            <a:schemeClr val="tx1"/>
          </a:solidFill>
          <a:ln w="12700">
            <a:solidFill>
              <a:srgbClr val="002D5C"/>
            </a:solidFill>
            <a:prstDash val="solid"/>
          </a:ln>
        </p:spPr>
      </p:sp>
      <p:sp>
        <p:nvSpPr>
          <p:cNvPr id="5" name="Text 3"/>
          <p:cNvSpPr txBox="1"/>
          <p:nvPr/>
        </p:nvSpPr>
        <p:spPr>
          <a:xfrm>
            <a:off x="685800" y="1600200"/>
            <a:ext cx="4114800" cy="320040"/>
          </a:xfrm>
          <a:prstGeom prst="rect">
            <a:avLst/>
          </a:prstGeom>
          <a:noFill/>
          <a:ln/>
        </p:spPr>
        <p:txBody>
          <a:bodyPr wrap="square" lIns="0" tIns="0" rIns="0" bIns="0" rtlCol="0" anchor="t"/>
          <a:lstStyle/>
          <a:p>
            <a:pPr indent="0" marL="0">
              <a:buNone/>
            </a:pPr>
            <a:r>
              <a:rPr lang="en-US" sz="1200" b="1" dirty="0">
                <a:solidFill>
                  <a:schemeClr val="accent2"/>
                </a:solidFill>
              </a:rPr>
              <a:t>A tool declaration (simplified)</a:t>
            </a:r>
            <a:endParaRPr lang="en-US" sz="1200" dirty="0"/>
          </a:p>
        </p:txBody>
      </p:sp>
      <p:sp>
        <p:nvSpPr>
          <p:cNvPr id="6" name="Text 4"/>
          <p:cNvSpPr txBox="1"/>
          <p:nvPr/>
        </p:nvSpPr>
        <p:spPr>
          <a:xfrm>
            <a:off x="685800" y="1965960"/>
            <a:ext cx="4206240" cy="237744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calculate_tool =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"name": "calculate",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"description": "Evaluate a basic</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arithmetic expression.",</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"parameters":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"expression": "e.g. '342*87'"</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pic>
        <p:nvPicPr>
          <p:cNvPr id="7" name="Image 0" descr="Tool icon">    </p:cNvPr>
          <p:cNvPicPr>
            <a:picLocks noChangeAspect="1"/>
          </p:cNvPicPr>
          <p:nvPr/>
        </p:nvPicPr>
        <p:blipFill>
          <a:blip r:embed="rId1"/>
          <a:stretch>
            <a:fillRect/>
          </a:stretch>
        </p:blipFill>
        <p:spPr>
          <a:xfrm>
            <a:off x="5394960" y="1554480"/>
            <a:ext cx="502920" cy="502920"/>
          </a:xfrm>
          <a:prstGeom prst="rect">
            <a:avLst/>
          </a:prstGeom>
        </p:spPr>
      </p:pic>
      <p:sp>
        <p:nvSpPr>
          <p:cNvPr id="8" name="Text 5"/>
          <p:cNvSpPr txBox="1"/>
          <p:nvPr/>
        </p:nvSpPr>
        <p:spPr>
          <a:xfrm>
            <a:off x="6035040" y="1572768"/>
            <a:ext cx="2651760" cy="548640"/>
          </a:xfrm>
          <a:prstGeom prst="rect">
            <a:avLst/>
          </a:prstGeom>
          <a:noFill/>
          <a:ln/>
        </p:spPr>
        <p:txBody>
          <a:bodyPr wrap="square" lIns="0" tIns="0" rIns="0" bIns="0" rtlCol="0" anchor="ctr"/>
          <a:lstStyle/>
          <a:p>
            <a:pPr indent="0" marL="0">
              <a:buNone/>
            </a:pPr>
            <a:r>
              <a:rPr lang="en-US" sz="1600" b="1" dirty="0">
                <a:solidFill>
                  <a:schemeClr val="tx1"/>
                </a:solidFill>
              </a:rPr>
              <a:t>The model sees only this description</a:t>
            </a:r>
            <a:endParaRPr lang="en-US" sz="1600" dirty="0"/>
          </a:p>
        </p:txBody>
      </p:sp>
      <p:sp>
        <p:nvSpPr>
          <p:cNvPr id="9" name="Text 6"/>
          <p:cNvSpPr txBox="1"/>
          <p:nvPr/>
        </p:nvSpPr>
        <p:spPr>
          <a:xfrm>
            <a:off x="5394960" y="2240280"/>
            <a:ext cx="3291840" cy="1005840"/>
          </a:xfrm>
          <a:prstGeom prst="rect">
            <a:avLst/>
          </a:prstGeom>
          <a:noFill/>
          <a:ln/>
        </p:spPr>
        <p:txBody>
          <a:bodyPr wrap="square" lIns="0" tIns="0" rIns="0" bIns="0" rtlCol="0" anchor="t"/>
          <a:lstStyle/>
          <a:p>
            <a:pPr indent="0" marL="0">
              <a:buNone/>
            </a:pPr>
            <a:r>
              <a:rPr lang="en-US" sz="1400" dirty="0">
                <a:solidFill>
                  <a:schemeClr val="tx2"/>
                </a:solidFill>
              </a:rPr>
              <a:t>It reads the name, description and parameters to decide when to ask. Your code decides what actually happens.</a:t>
            </a:r>
            <a:endParaRPr lang="en-US" sz="1400" dirty="0"/>
          </a:p>
        </p:txBody>
      </p:sp>
      <p:sp>
        <p:nvSpPr>
          <p:cNvPr id="10" name="judgment"/>
          <p:cNvSpPr/>
          <p:nvPr/>
        </p:nvSpPr>
        <p:spPr>
          <a:xfrm>
            <a:off x="5394960" y="3383280"/>
            <a:ext cx="3291840" cy="1143000"/>
          </a:xfrm>
          <a:prstGeom prst="roundRect">
            <a:avLst>
              <a:gd name="adj" fmla="val 9600"/>
            </a:avLst>
          </a:prstGeom>
          <a:solidFill>
            <a:schemeClr val="bg2"/>
          </a:solidFill>
          <a:ln w="12700">
            <a:solidFill>
              <a:srgbClr val="C9D4E1"/>
            </a:solidFill>
            <a:prstDash val="solid"/>
          </a:ln>
        </p:spPr>
      </p:sp>
      <p:sp>
        <p:nvSpPr>
          <p:cNvPr id="11" name="Text 8"/>
          <p:cNvSpPr txBox="1"/>
          <p:nvPr/>
        </p:nvSpPr>
        <p:spPr>
          <a:xfrm>
            <a:off x="5577840" y="3520440"/>
            <a:ext cx="2971800" cy="914400"/>
          </a:xfrm>
          <a:prstGeom prst="rect">
            <a:avLst/>
          </a:prstGeom>
          <a:noFill/>
          <a:ln/>
        </p:spPr>
        <p:txBody>
          <a:bodyPr wrap="square" lIns="0" tIns="0" rIns="0" bIns="0" rtlCol="0" anchor="t"/>
          <a:lstStyle/>
          <a:p>
            <a:pPr indent="0" marL="0">
              <a:buNone/>
            </a:pPr>
            <a:r>
              <a:rPr lang="en-US" sz="1400" b="1" dirty="0">
                <a:solidFill>
                  <a:schemeClr val="tx1"/>
                </a:solidFill>
              </a:rPr>
              <a:t>So which functions you expose is an engineering judgment. You'll practice it in Application Challenge 1.</a:t>
            </a:r>
            <a:endParaRPr lang="en-US" sz="1400" dirty="0"/>
          </a:p>
        </p:txBody>
      </p:sp>
      <p:sp>
        <p:nvSpPr>
          <p:cNvPr id="25" name="Slide Number Placeholder 0"/>
          <p:cNvSpPr>
            <a:spLocks noGrp="1"/>
          </p:cNvSpPr>
          <p:nvPr>
            <p:ph type="sldNum" sz="quarter" idx="4294967295"/>
          </p:nvPr>
        </p:nvSpPr>
        <p:spPr>
          <a:xfrm>
            <a:off x="6812280" y="4754880"/>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8046720" cy="640080"/>
          </a:xfrm>
          <a:prstGeom prst="rect">
            <a:avLst/>
          </a:prstGeom>
          <a:noFill/>
          <a:ln/>
        </p:spPr>
        <p:txBody>
          <a:bodyPr wrap="square" lIns="0" tIns="0" rIns="0" bIns="0" rtlCol="0"/>
          <a:lstStyle/>
          <a:p>
            <a:pPr algn="l" indent="0" marL="0">
              <a:buNone/>
            </a:pPr>
            <a:r>
              <a:rPr lang="en-US" sz="3200" b="1" dirty="0">
                <a:solidFill>
                  <a:schemeClr val="tx1"/>
                </a:solidFill>
              </a:rPr>
              <a:t>Your next steps this week</a:t>
            </a:r>
            <a:endParaRPr lang="en-US" sz="3200" dirty="0"/>
          </a:p>
        </p:txBody>
      </p:sp>
      <p:sp>
        <p:nvSpPr>
          <p:cNvPr id="3" name="next0"/>
          <p:cNvSpPr/>
          <p:nvPr/>
        </p:nvSpPr>
        <p:spPr>
          <a:xfrm>
            <a:off x="548640" y="1325880"/>
            <a:ext cx="3886200" cy="1371600"/>
          </a:xfrm>
          <a:prstGeom prst="roundRect">
            <a:avLst>
              <a:gd name="adj" fmla="val 8000"/>
            </a:avLst>
          </a:prstGeom>
          <a:solidFill>
            <a:schemeClr val="bg1"/>
          </a:solidFill>
          <a:ln w="12700">
            <a:solidFill>
              <a:srgbClr val="FFFFFF"/>
            </a:solidFill>
            <a:prstDash val="solid"/>
          </a:ln>
        </p:spPr>
      </p:sp>
      <p:pic>
        <p:nvPicPr>
          <p:cNvPr id="4" name="Image 0" descr="Try the simulator icon">    </p:cNvPr>
          <p:cNvPicPr>
            <a:picLocks noChangeAspect="1"/>
          </p:cNvPicPr>
          <p:nvPr/>
        </p:nvPicPr>
        <p:blipFill>
          <a:blip r:embed="rId1"/>
          <a:stretch>
            <a:fillRect/>
          </a:stretch>
        </p:blipFill>
        <p:spPr>
          <a:xfrm>
            <a:off x="777240" y="1554480"/>
            <a:ext cx="457200" cy="457200"/>
          </a:xfrm>
          <a:prstGeom prst="rect">
            <a:avLst/>
          </a:prstGeom>
        </p:spPr>
      </p:pic>
      <p:sp>
        <p:nvSpPr>
          <p:cNvPr id="5" name="Text 2"/>
          <p:cNvSpPr txBox="1"/>
          <p:nvPr/>
        </p:nvSpPr>
        <p:spPr>
          <a:xfrm>
            <a:off x="1417320" y="1554480"/>
            <a:ext cx="2880360" cy="411480"/>
          </a:xfrm>
          <a:prstGeom prst="rect">
            <a:avLst/>
          </a:prstGeom>
          <a:noFill/>
          <a:ln/>
        </p:spPr>
        <p:txBody>
          <a:bodyPr wrap="square" lIns="0" tIns="0" rIns="0" bIns="0" rtlCol="0" anchor="ctr"/>
          <a:lstStyle/>
          <a:p>
            <a:pPr indent="0" marL="0">
              <a:buNone/>
            </a:pPr>
            <a:r>
              <a:rPr lang="en-US" sz="1700" b="1" dirty="0">
                <a:solidFill>
                  <a:schemeClr val="tx1"/>
                </a:solidFill>
              </a:rPr>
              <a:t>Try the simulator</a:t>
            </a:r>
            <a:endParaRPr lang="en-US" sz="1700" dirty="0"/>
          </a:p>
        </p:txBody>
      </p:sp>
      <p:sp>
        <p:nvSpPr>
          <p:cNvPr id="6" name="Text 3"/>
          <p:cNvSpPr txBox="1"/>
          <p:nvPr/>
        </p:nvSpPr>
        <p:spPr>
          <a:xfrm>
            <a:off x="1417320" y="1984248"/>
            <a:ext cx="2880360" cy="640080"/>
          </a:xfrm>
          <a:prstGeom prst="rect">
            <a:avLst/>
          </a:prstGeom>
          <a:noFill/>
          <a:ln/>
        </p:spPr>
        <p:txBody>
          <a:bodyPr wrap="square" lIns="0" tIns="0" rIns="0" bIns="0" rtlCol="0" anchor="t"/>
          <a:lstStyle/>
          <a:p>
            <a:pPr indent="0" marL="0">
              <a:buNone/>
            </a:pPr>
            <a:r>
              <a:rPr lang="en-US" sz="1300" dirty="0">
                <a:solidFill>
                  <a:schemeClr val="tx2"/>
                </a:solidFill>
              </a:rPr>
              <a:t>Step through “342 times 87”, then “Tell me a joke”, then “12 / (3 -”. Watch where each one leaves the loop.</a:t>
            </a:r>
            <a:endParaRPr lang="en-US" sz="1300" dirty="0"/>
          </a:p>
        </p:txBody>
      </p:sp>
      <p:sp>
        <p:nvSpPr>
          <p:cNvPr id="7" name="next1"/>
          <p:cNvSpPr/>
          <p:nvPr/>
        </p:nvSpPr>
        <p:spPr>
          <a:xfrm>
            <a:off x="4663440" y="1325880"/>
            <a:ext cx="3886200" cy="1371600"/>
          </a:xfrm>
          <a:prstGeom prst="roundRect">
            <a:avLst>
              <a:gd name="adj" fmla="val 8000"/>
            </a:avLst>
          </a:prstGeom>
          <a:solidFill>
            <a:schemeClr val="bg1"/>
          </a:solidFill>
          <a:ln w="12700">
            <a:solidFill>
              <a:srgbClr val="FFFFFF"/>
            </a:solidFill>
            <a:prstDash val="solid"/>
          </a:ln>
        </p:spPr>
      </p:sp>
      <p:pic>
        <p:nvPicPr>
          <p:cNvPr id="8" name="Image 1" descr="Muddiest Point, by Wednesday icon">    </p:cNvPr>
          <p:cNvPicPr>
            <a:picLocks noChangeAspect="1"/>
          </p:cNvPicPr>
          <p:nvPr/>
        </p:nvPicPr>
        <p:blipFill>
          <a:blip r:embed="rId2"/>
          <a:stretch>
            <a:fillRect/>
          </a:stretch>
        </p:blipFill>
        <p:spPr>
          <a:xfrm>
            <a:off x="4892040" y="1554480"/>
            <a:ext cx="457200" cy="457200"/>
          </a:xfrm>
          <a:prstGeom prst="rect">
            <a:avLst/>
          </a:prstGeom>
        </p:spPr>
      </p:pic>
      <p:sp>
        <p:nvSpPr>
          <p:cNvPr id="9" name="Text 5"/>
          <p:cNvSpPr txBox="1"/>
          <p:nvPr/>
        </p:nvSpPr>
        <p:spPr>
          <a:xfrm>
            <a:off x="5532120" y="1554480"/>
            <a:ext cx="2880360" cy="411480"/>
          </a:xfrm>
          <a:prstGeom prst="rect">
            <a:avLst/>
          </a:prstGeom>
          <a:noFill/>
          <a:ln/>
        </p:spPr>
        <p:txBody>
          <a:bodyPr wrap="square" lIns="0" tIns="0" rIns="0" bIns="0" rtlCol="0" anchor="ctr"/>
          <a:lstStyle/>
          <a:p>
            <a:pPr indent="0" marL="0">
              <a:buNone/>
            </a:pPr>
            <a:r>
              <a:rPr lang="en-US" sz="1700" b="1" dirty="0">
                <a:solidFill>
                  <a:schemeClr val="tx1"/>
                </a:solidFill>
              </a:rPr>
              <a:t>Muddiest Point, by Wednesday</a:t>
            </a:r>
            <a:endParaRPr lang="en-US" sz="1700" dirty="0"/>
          </a:p>
        </p:txBody>
      </p:sp>
      <p:sp>
        <p:nvSpPr>
          <p:cNvPr id="10" name="Text 6"/>
          <p:cNvSpPr txBox="1"/>
          <p:nvPr/>
        </p:nvSpPr>
        <p:spPr>
          <a:xfrm>
            <a:off x="5532120" y="1984248"/>
            <a:ext cx="2880360" cy="640080"/>
          </a:xfrm>
          <a:prstGeom prst="rect">
            <a:avLst/>
          </a:prstGeom>
          <a:noFill/>
          <a:ln/>
        </p:spPr>
        <p:txBody>
          <a:bodyPr wrap="square" lIns="0" tIns="0" rIns="0" bIns="0" rtlCol="0" anchor="t"/>
          <a:lstStyle/>
          <a:p>
            <a:pPr indent="0" marL="0">
              <a:buNone/>
            </a:pPr>
            <a:r>
              <a:rPr lang="en-US" sz="1300" dirty="0">
                <a:solidFill>
                  <a:schemeClr val="tx2"/>
                </a:solidFill>
              </a:rPr>
              <a:t>The one place you got stuck. Specific beats general.</a:t>
            </a:r>
            <a:endParaRPr lang="en-US" sz="1300" dirty="0"/>
          </a:p>
        </p:txBody>
      </p:sp>
      <p:sp>
        <p:nvSpPr>
          <p:cNvPr id="11" name="next2"/>
          <p:cNvSpPr/>
          <p:nvPr/>
        </p:nvSpPr>
        <p:spPr>
          <a:xfrm>
            <a:off x="548640" y="2926080"/>
            <a:ext cx="3886200" cy="1371600"/>
          </a:xfrm>
          <a:prstGeom prst="roundRect">
            <a:avLst>
              <a:gd name="adj" fmla="val 8000"/>
            </a:avLst>
          </a:prstGeom>
          <a:solidFill>
            <a:schemeClr val="bg1"/>
          </a:solidFill>
          <a:ln w="12700">
            <a:solidFill>
              <a:srgbClr val="FFFFFF"/>
            </a:solidFill>
            <a:prstDash val="solid"/>
          </a:ln>
        </p:spPr>
      </p:sp>
      <p:pic>
        <p:nvPicPr>
          <p:cNvPr id="12" name="Image 2" descr="Concept Debate icon">    </p:cNvPr>
          <p:cNvPicPr>
            <a:picLocks noChangeAspect="1"/>
          </p:cNvPicPr>
          <p:nvPr/>
        </p:nvPicPr>
        <p:blipFill>
          <a:blip r:embed="rId3"/>
          <a:stretch>
            <a:fillRect/>
          </a:stretch>
        </p:blipFill>
        <p:spPr>
          <a:xfrm>
            <a:off x="777240" y="3154680"/>
            <a:ext cx="457200" cy="457200"/>
          </a:xfrm>
          <a:prstGeom prst="rect">
            <a:avLst/>
          </a:prstGeom>
        </p:spPr>
      </p:pic>
      <p:sp>
        <p:nvSpPr>
          <p:cNvPr id="13" name="Text 8"/>
          <p:cNvSpPr txBox="1"/>
          <p:nvPr/>
        </p:nvSpPr>
        <p:spPr>
          <a:xfrm>
            <a:off x="1417320" y="3154680"/>
            <a:ext cx="2880360" cy="411480"/>
          </a:xfrm>
          <a:prstGeom prst="rect">
            <a:avLst/>
          </a:prstGeom>
          <a:noFill/>
          <a:ln/>
        </p:spPr>
        <p:txBody>
          <a:bodyPr wrap="square" lIns="0" tIns="0" rIns="0" bIns="0" rtlCol="0" anchor="ctr"/>
          <a:lstStyle/>
          <a:p>
            <a:pPr indent="0" marL="0">
              <a:buNone/>
            </a:pPr>
            <a:r>
              <a:rPr lang="en-US" sz="1700" b="1" dirty="0">
                <a:solidFill>
                  <a:schemeClr val="tx1"/>
                </a:solidFill>
              </a:rPr>
              <a:t>Concept Debate</a:t>
            </a:r>
            <a:endParaRPr lang="en-US" sz="1700" dirty="0"/>
          </a:p>
        </p:txBody>
      </p:sp>
      <p:sp>
        <p:nvSpPr>
          <p:cNvPr id="14" name="Text 9"/>
          <p:cNvSpPr txBox="1"/>
          <p:nvPr/>
        </p:nvSpPr>
        <p:spPr>
          <a:xfrm>
            <a:off x="1417320" y="3584448"/>
            <a:ext cx="2880360" cy="640080"/>
          </a:xfrm>
          <a:prstGeom prst="rect">
            <a:avLst/>
          </a:prstGeom>
          <a:noFill/>
          <a:ln/>
        </p:spPr>
        <p:txBody>
          <a:bodyPr wrap="square" lIns="0" tIns="0" rIns="0" bIns="0" rtlCol="0" anchor="t"/>
          <a:lstStyle/>
          <a:p>
            <a:pPr indent="0" marL="0">
              <a:buNone/>
            </a:pPr>
            <a:r>
              <a:rPr lang="en-US" sz="1300" dirty="0">
                <a:solidFill>
                  <a:schemeClr val="tx2"/>
                </a:solidFill>
              </a:rPr>
              <a:t>Who should decide when to call a tool: the model, or your backend code?</a:t>
            </a:r>
            <a:endParaRPr lang="en-US" sz="1300" dirty="0"/>
          </a:p>
        </p:txBody>
      </p:sp>
      <p:sp>
        <p:nvSpPr>
          <p:cNvPr id="15" name="next3"/>
          <p:cNvSpPr/>
          <p:nvPr/>
        </p:nvSpPr>
        <p:spPr>
          <a:xfrm>
            <a:off x="4663440" y="2926080"/>
            <a:ext cx="3886200" cy="1371600"/>
          </a:xfrm>
          <a:prstGeom prst="roundRect">
            <a:avLst>
              <a:gd name="adj" fmla="val 8000"/>
            </a:avLst>
          </a:prstGeom>
          <a:solidFill>
            <a:schemeClr val="bg1"/>
          </a:solidFill>
          <a:ln w="12700">
            <a:solidFill>
              <a:srgbClr val="FFFFFF"/>
            </a:solidFill>
            <a:prstDash val="solid"/>
          </a:ln>
        </p:spPr>
      </p:sp>
      <p:pic>
        <p:nvPicPr>
          <p:cNvPr id="16" name="Image 3" descr="Build it in Codespaces icon">    </p:cNvPr>
          <p:cNvPicPr>
            <a:picLocks noChangeAspect="1"/>
          </p:cNvPicPr>
          <p:nvPr/>
        </p:nvPicPr>
        <p:blipFill>
          <a:blip r:embed="rId4"/>
          <a:stretch>
            <a:fillRect/>
          </a:stretch>
        </p:blipFill>
        <p:spPr>
          <a:xfrm>
            <a:off x="4892040" y="3154680"/>
            <a:ext cx="457200" cy="457200"/>
          </a:xfrm>
          <a:prstGeom prst="rect">
            <a:avLst/>
          </a:prstGeom>
        </p:spPr>
      </p:pic>
      <p:sp>
        <p:nvSpPr>
          <p:cNvPr id="17" name="Text 11"/>
          <p:cNvSpPr txBox="1"/>
          <p:nvPr/>
        </p:nvSpPr>
        <p:spPr>
          <a:xfrm>
            <a:off x="5532120" y="3154680"/>
            <a:ext cx="2880360" cy="411480"/>
          </a:xfrm>
          <a:prstGeom prst="rect">
            <a:avLst/>
          </a:prstGeom>
          <a:noFill/>
          <a:ln/>
        </p:spPr>
        <p:txBody>
          <a:bodyPr wrap="square" lIns="0" tIns="0" rIns="0" bIns="0" rtlCol="0" anchor="ctr"/>
          <a:lstStyle/>
          <a:p>
            <a:pPr indent="0" marL="0">
              <a:buNone/>
            </a:pPr>
            <a:r>
              <a:rPr lang="en-US" sz="1700" b="1" dirty="0">
                <a:solidFill>
                  <a:schemeClr val="tx1"/>
                </a:solidFill>
              </a:rPr>
              <a:t>Build it in Codespaces</a:t>
            </a:r>
            <a:endParaRPr lang="en-US" sz="1700" dirty="0"/>
          </a:p>
        </p:txBody>
      </p:sp>
      <p:sp>
        <p:nvSpPr>
          <p:cNvPr id="18" name="Text 12"/>
          <p:cNvSpPr txBox="1"/>
          <p:nvPr/>
        </p:nvSpPr>
        <p:spPr>
          <a:xfrm>
            <a:off x="5532120" y="3584448"/>
            <a:ext cx="2880360" cy="640080"/>
          </a:xfrm>
          <a:prstGeom prst="rect">
            <a:avLst/>
          </a:prstGeom>
          <a:noFill/>
          <a:ln/>
        </p:spPr>
        <p:txBody>
          <a:bodyPr wrap="square" lIns="0" tIns="0" rIns="0" bIns="0" rtlCol="0" anchor="t"/>
          <a:lstStyle/>
          <a:p>
            <a:pPr indent="0" marL="0">
              <a:buNone/>
            </a:pPr>
            <a:r>
              <a:rPr lang="en-US" sz="1300" dirty="0">
                <a:solidFill>
                  <a:schemeClr val="tx2"/>
                </a:solidFill>
              </a:rPr>
              <a:t>Scaffold the app with an AI assistant, then test it on purpose.</a:t>
            </a:r>
            <a:endParaRPr lang="en-US" sz="1300" dirty="0"/>
          </a:p>
        </p:txBody>
      </p:sp>
      <p:sp>
        <p:nvSpPr>
          <p:cNvPr id="19" name="Text 13"/>
          <p:cNvSpPr txBox="1"/>
          <p:nvPr/>
        </p:nvSpPr>
        <p:spPr>
          <a:xfrm>
            <a:off x="548640" y="4663440"/>
            <a:ext cx="3657600" cy="274320"/>
          </a:xfrm>
          <a:prstGeom prst="rect">
            <a:avLst/>
          </a:prstGeom>
          <a:noFill/>
          <a:ln/>
        </p:spPr>
        <p:txBody>
          <a:bodyPr wrap="square" lIns="0" tIns="0" rIns="0" bIns="0" rtlCol="0" anchor="t"/>
          <a:lstStyle/>
          <a:p>
            <a:pPr indent="0" marL="0">
              <a:buNone/>
            </a:pPr>
            <a:r>
              <a:rPr lang="en-US" sz="1000" dirty="0">
                <a:solidFill>
                  <a:schemeClr val="tx1"/>
                </a:solidFill>
              </a:rPr>
              <a:t>AI 410 · HOS 1</a:t>
            </a:r>
            <a:endParaRPr lang="en-US" sz="1000" dirty="0"/>
          </a:p>
        </p:txBody>
      </p:sp>
    </p:spTree>
  </p:cSld>
  <p:clrMapOvr>
    <a:masterClrMapping/>
  </p:clrMapOvr>
</p:sld>
</file>

<file path=ppt/theme/theme1.xml><?xml version="1.0" encoding="utf-8"?>
<a:theme xmlns:a="http://schemas.openxmlformats.org/drawingml/2006/main" name="CityU AI 410">
  <a:themeElements>
    <a:clrScheme name="CityU AI 410">
      <a:dk1>
        <a:srgbClr val="002D5C"/>
      </a:dk1>
      <a:lt1>
        <a:srgbClr val="FFFFFF"/>
      </a:lt1>
      <a:dk2>
        <a:srgbClr val="3A4A5C"/>
      </a:dk2>
      <a:lt2>
        <a:srgbClr val="EEF3F8"/>
      </a:lt2>
      <a:accent1>
        <a:srgbClr val="F63E02"/>
      </a:accent1>
      <a:accent2>
        <a:srgbClr val="3BBABD"/>
      </a:accent2>
      <a:accent3>
        <a:srgbClr val="002D5C"/>
      </a:accent3>
      <a:accent4>
        <a:srgbClr val="6B7A8C"/>
      </a:accent4>
      <a:accent5>
        <a:srgbClr val="8FA3B8"/>
      </a:accent5>
      <a:accent6>
        <a:srgbClr val="1F4E79"/>
      </a:accent6>
      <a:hlink>
        <a:srgbClr val="1F6FB2"/>
      </a:hlink>
      <a:folHlink>
        <a:srgbClr val="5E4B8B"/>
      </a:folHlink>
    </a:clrScheme>
    <a:fontScheme name="CityU AI 410">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City University of Seattle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410 HOS 1 Lecture: From chat box to agent</dc:title>
  <dc:subject>PptxGenJS Presentation</dc:subject>
  <dc:creator>Clark Ngo</dc:creator>
  <cp:lastModifiedBy>Clark Ngo</cp:lastModifiedBy>
  <cp:revision>1</cp:revision>
  <dcterms:created xsi:type="dcterms:W3CDTF">2026-10-13T18:51:52Z</dcterms:created>
  <dcterms:modified xsi:type="dcterms:W3CDTF">2026-10-13T18:51:52Z</dcterms:modified>
</cp:coreProperties>
</file>